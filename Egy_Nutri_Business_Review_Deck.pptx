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16.24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2182</c:v>
                </c:pt>
                <c:pt idx="1">
                  <c:v>3873</c:v>
                </c:pt>
                <c:pt idx="2">
                  <c:v>4469</c:v>
                </c:pt>
                <c:pt idx="3">
                  <c:v>7890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1774</c:v>
                </c:pt>
                <c:pt idx="1">
                  <c:v>3019</c:v>
                </c:pt>
                <c:pt idx="2">
                  <c:v>2767</c:v>
                </c:pt>
                <c:pt idx="3">
                  <c:v>4551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1517</c:v>
                </c:pt>
                <c:pt idx="2">
                  <c:v>834</c:v>
                </c:pt>
                <c:pt idx="3">
                  <c:v>1017</c:v>
                </c:pt>
                <c:pt idx="4">
                  <c:v>435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75</c:v>
                </c:pt>
                <c:pt idx="1">
                  <c:v>1119</c:v>
                </c:pt>
                <c:pt idx="2">
                  <c:v>568</c:v>
                </c:pt>
                <c:pt idx="3">
                  <c:v>879</c:v>
                </c:pt>
                <c:pt idx="4">
                  <c:v>407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7890</c:v>
                </c:pt>
                <c:pt idx="1">
                  <c:v>4469</c:v>
                </c:pt>
                <c:pt idx="2">
                  <c:v>3873</c:v>
                </c:pt>
                <c:pt idx="3">
                  <c:v>2182</c:v>
                </c:pt>
                <c:pt idx="4">
                  <c:v>4413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61.76</c:v>
                </c:pt>
                <c:pt idx="1">
                  <c:v>127.23</c:v>
                </c:pt>
                <c:pt idx="2">
                  <c:v>7.93</c:v>
                </c:pt>
                <c:pt idx="3">
                  <c:v>34.1</c:v>
                </c:pt>
                <c:pt idx="4">
                  <c:v>83.25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46.86</c:v>
                </c:pt>
                <c:pt idx="1">
                  <c:v>68.54</c:v>
                </c:pt>
                <c:pt idx="2">
                  <c:v>9.6</c:v>
                </c:pt>
                <c:pt idx="3">
                  <c:v>37.58</c:v>
                </c:pt>
                <c:pt idx="4">
                  <c:v>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KFR EL.SHK (Karim)</c:v>
                  </c:pt>
                  <c:pt idx="3">
                    <c:v>Guiza (Youstina)</c:v>
                  </c:pt>
                  <c:pt idx="4">
                    <c:v>Alx (Ahmed)</c:v>
                  </c:pt>
                  <c:pt idx="5">
                    <c:v>Delta II (Mohamed)</c:v>
                  </c:pt>
                  <c:pt idx="6">
                    <c:v>Upper Egypt I (UE)</c:v>
                  </c:pt>
                  <c:pt idx="7">
                    <c:v>Cairo (NOHER)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25</c:v>
                </c:pt>
                <c:pt idx="1">
                  <c:v>28.9</c:v>
                </c:pt>
                <c:pt idx="2">
                  <c:v>29.9</c:v>
                </c:pt>
                <c:pt idx="3">
                  <c:v>32.8</c:v>
                </c:pt>
                <c:pt idx="4">
                  <c:v>40.1</c:v>
                </c:pt>
                <c:pt idx="5">
                  <c:v>46</c:v>
                </c:pt>
                <c:pt idx="6">
                  <c:v>46.2</c:v>
                </c:pt>
                <c:pt idx="7">
                  <c:v>46.4</c:v>
                </c:pt>
                <c:pt idx="8">
                  <c:v>57.7</c:v>
                </c:pt>
                <c:pt idx="9">
                  <c:v>39.5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Upper Egypt I (UE)</c:v>
                  </c:pt>
                  <c:pt idx="3">
                    <c:v>Guiza (Youstina)</c:v>
                  </c:pt>
                  <c:pt idx="4">
                    <c:v>KFR EL.SHK (Karim)</c:v>
                  </c:pt>
                  <c:pt idx="5">
                    <c:v>Delta II (Mohamed)</c:v>
                  </c:pt>
                  <c:pt idx="6">
                    <c:v>Cairo (NOHER)</c:v>
                  </c:pt>
                  <c:pt idx="7">
                    <c:v>Upper Egypt II (Beshoy)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27.9</c:v>
                </c:pt>
                <c:pt idx="1">
                  <c:v>35.6</c:v>
                </c:pt>
                <c:pt idx="2">
                  <c:v>38.6</c:v>
                </c:pt>
                <c:pt idx="3">
                  <c:v>39.4</c:v>
                </c:pt>
                <c:pt idx="4">
                  <c:v>43.6</c:v>
                </c:pt>
                <c:pt idx="5">
                  <c:v>46</c:v>
                </c:pt>
                <c:pt idx="6">
                  <c:v>56.7</c:v>
                </c:pt>
                <c:pt idx="7">
                  <c:v>61.8</c:v>
                </c:pt>
                <c:pt idx="8">
                  <c:v>91.4</c:v>
                </c:pt>
                <c:pt idx="9">
                  <c:v>46.9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DELTA I (Shimaa)</c:v>
                  </c:pt>
                  <c:pt idx="4">
                    <c:v>Delta II (Mohamed)</c:v>
                  </c:pt>
                  <c:pt idx="5">
                    <c:v>Upper Egypt I (UE)</c:v>
                  </c:pt>
                  <c:pt idx="6">
                    <c:v>Cairo (NOHER)</c:v>
                  </c:pt>
                  <c:pt idx="7">
                    <c:v>Alx (Ahmed)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28.7</c:v>
                </c:pt>
                <c:pt idx="1">
                  <c:v>55</c:v>
                </c:pt>
                <c:pt idx="2">
                  <c:v>55.7</c:v>
                </c:pt>
                <c:pt idx="3">
                  <c:v>53.6</c:v>
                </c:pt>
                <c:pt idx="4">
                  <c:v>65.7</c:v>
                </c:pt>
                <c:pt idx="5">
                  <c:v>73.3</c:v>
                </c:pt>
                <c:pt idx="6">
                  <c:v>71.9</c:v>
                </c:pt>
                <c:pt idx="7">
                  <c:v>86.3</c:v>
                </c:pt>
                <c:pt idx="8">
                  <c:v>127.2</c:v>
                </c:pt>
                <c:pt idx="9">
                  <c:v>68.5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Delta II (Mohamed)</c:v>
                  </c:pt>
                  <c:pt idx="3">
                    <c:v>DELTA I (Shimaa)</c:v>
                  </c:pt>
                  <c:pt idx="4">
                    <c:v>KFR EL.SHK (Karim)</c:v>
                  </c:pt>
                  <c:pt idx="5">
                    <c:v>Upper Egypt II (Beshoy)</c:v>
                  </c:pt>
                  <c:pt idx="6">
                    <c:v>Cairo (NOHER)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</c:v>
                </c:pt>
                <c:pt idx="1">
                  <c:v>-7.9</c:v>
                </c:pt>
                <c:pt idx="2">
                  <c:v>-4.1</c:v>
                </c:pt>
                <c:pt idx="3">
                  <c:v>-2.9</c:v>
                </c:pt>
                <c:pt idx="4">
                  <c:v>3.2</c:v>
                </c:pt>
                <c:pt idx="5">
                  <c:v>7.9</c:v>
                </c:pt>
                <c:pt idx="6">
                  <c:v>32.5</c:v>
                </c:pt>
                <c:pt idx="7">
                  <c:v>31.7</c:v>
                </c:pt>
                <c:pt idx="8">
                  <c:v>43.9</c:v>
                </c:pt>
                <c:pt idx="9">
                  <c:v>9.6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DELTA I (Shimaa)</c:v>
                  </c:pt>
                  <c:pt idx="4">
                    <c:v>Behera &amp; Dakahlia (Ahmed)</c:v>
                  </c:pt>
                  <c:pt idx="5">
                    <c:v>Upper Egypt II (Beshoy)</c:v>
                  </c:pt>
                  <c:pt idx="6">
                    <c:v>Guiza (Youstina)</c:v>
                  </c:pt>
                  <c:pt idx="7">
                    <c:v>Upper Egypt I (UE)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5.1</c:v>
                </c:pt>
                <c:pt idx="1">
                  <c:v>14.9</c:v>
                </c:pt>
                <c:pt idx="2">
                  <c:v>10.6</c:v>
                </c:pt>
                <c:pt idx="3">
                  <c:v>28.2</c:v>
                </c:pt>
                <c:pt idx="4">
                  <c:v>29.4</c:v>
                </c:pt>
                <c:pt idx="5">
                  <c:v>34.1</c:v>
                </c:pt>
                <c:pt idx="6">
                  <c:v>55.7</c:v>
                </c:pt>
                <c:pt idx="7">
                  <c:v>67</c:v>
                </c:pt>
                <c:pt idx="8">
                  <c:v>67.4</c:v>
                </c:pt>
                <c:pt idx="9">
                  <c:v>37.6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16.24% (National volume leader, 210,911 cans YTD)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+0.63%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+1.87%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-3.00%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+1.02%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+2.12%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-0.99%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+0.63%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+6.65%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(Upper Egypt II)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4,551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+7.9%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3,019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+34.1%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1,774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7,890 cans/mo (+61.8% PPG), dominating the line average (4,551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achieved 4,469 cans/mo (+127.2% PPG), doubling 2025 run-rates.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3,873 cans/mo, exceeding national line average (3,142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2 is 2,182 cans/mo, up +34.1% over 2025 baseline.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+22.0%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1,017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+95.8%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1,517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+107.2%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(1,517 cans/mo) surged +107.2% PPG, establishing clear pediatric leadership.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HA (1,017 cans/mo) is up +95.7% PPG, outpacing national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Specialty portfolio provides superior margins and clinical prescription stickiness.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+57.71% PPG (vs Company: +39.54%)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(+18.2%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dashboard, selecting any ADM from the header updates this dual-axis combo chart instantly.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(DYNAMIC 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Behera +25.0%, Delta I +28.9%, Kfr El.Shk +29.9%, Guiza +32.8%), the card switches to RED with gap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Selected ADM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-1.7%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-3.5%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4,413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+39.8%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+39.5%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+57.7%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+46.9%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+56.7%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+38.6%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+68.5%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+9.6%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+31.7%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+37.6%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PPG (+39.5%) | Vertical Intercept at 0.00% | Selected ADM Highlighted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+0.63% | Y (Total PPG Growth) = +57.71% (vs Company +39.5%)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16.24% of Egypt Total Sales (210,911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+39.5%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+57.7% PPG, +0.63% Diff, 210.9k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+46.0% PPG, +2.12% Diff, 186.9k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 in clinics.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+39.5%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Cairo (Noher Adel): +46.4% PPG, -7.36% Diff, 94.2k units (Major turnaround!)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Upper Egypt I (UE North): +46.2% PPG, -0.99% Diff, 169.4k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+40.1% PPG, -3.00% Diff, 92.2k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Closing the geographic share gap rapidly. Expand key pharmacy accounts.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+39.5%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+32.8% PPG, -5.36% Diff, 118.9k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High potential territory (14.5% GEO) lagging behind national pace. Re-evaluate medical rep detailing frequency and key pharmacy availability.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+39.5%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+29.9% PPG, +6.65% Diff, 109.2k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+28.9% PPG, +6.29% Diff, 176.7k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Behera &amp; Dakahlia (Ahmed Sakr): +25.0% PPG, +1.02% Diff, 139.9k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+39.5%.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3-HORIZON RUN-RATE VELOCITY: Q3 2026 vs H1 2026 BASELINE vs 2025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Velocity Trilogy: Tracking Medical Rep Momentum from 2025 Baseline through H1 2026 to Q3 2026 (+51.0% vs '25)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15568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2025 MO. BASELINE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103,385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Full Year Baseline (Cans/Mo)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10128" y="1115568"/>
            <a:ext cx="2697480" cy="8686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0C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1568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H1 2026 BASELINE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01568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65D"/>
                </a:solidFill>
              </a:rPr>
              <a:t>138,315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01568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+33.8% over 2025 baseline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63056" y="1115568"/>
            <a:ext cx="2697480" cy="868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Q3 2026 RUN-RATE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254496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</a:rPr>
              <a:t>156,126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54496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+12.9% vs H1 | +51.0% vs '25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015984" y="1115568"/>
            <a:ext cx="2697480" cy="86868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424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TOP ACCELERATOR REP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07424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1B6"/>
                </a:solidFill>
              </a:rPr>
              <a:t>Cairo (+58.7% vs H1)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07424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Noher Adel: +94.3% vs '25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6766560" cy="4389120"/>
        </p:xfrm>
        <a:graphic>
          <a:graphicData uri="http://schemas.openxmlformats.org/drawingml/2006/table">
            <a:tbl>
              <a:tblPr/>
              <a:tblGrid>
                <a:gridCol w="411480"/>
                <a:gridCol w="1005840"/>
                <a:gridCol w="1051560"/>
                <a:gridCol w="685800"/>
                <a:gridCol w="685800"/>
                <a:gridCol w="685800"/>
                <a:gridCol w="685800"/>
                <a:gridCol w="685800"/>
                <a:gridCol w="914400"/>
              </a:tblGrid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Medical Rep / 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H1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H1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'25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Velocity Tier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National Rep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103,385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138,315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5CF6"/>
                          </a:solidFill>
                        </a:rPr>
                        <a:t>156,126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+12.9%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+51.0%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7,152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8,758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13,898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+94.3%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9,337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10,461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15,472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12,877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16,459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23,564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12,441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14,302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18,041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14,859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22,305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25,694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+15.2%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9,951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12,895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+7.5%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+39.3%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7,309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10,206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10,314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15,235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20,146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18,614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+22.2%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14,224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22,783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16,671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-26.8%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+17.2%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406640" y="2103120"/>
            <a:ext cx="4297680" cy="1024128"/>
          </a:xfrm>
          <a:prstGeom prst="roundRect">
            <a:avLst/>
          </a:prstGeom>
          <a:solidFill>
            <a:srgbClr val="D4EDDA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543800" y="217627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5724"/>
                </a:solidFill>
              </a:rPr>
              <a:t>TIER 1: HIGH ACCELERATORS (+40% to +60%) 🚀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543800" y="24231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Cairo (Noher Adel): 7.2k ('25) → 8.8k (H1) → 13.9k/mo (Q3) (+58.7% vs H1 | +94.3%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KFR EL.SHK (Karim Shehab): 9.3k → 10.5k → 15.5k/mo (+47.9% vs H1 | +65.7%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Upper Egypt I (UE North): 12.9k → 16.5k → 23.6k/mo (+43.2% vs H1 | +83.0%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Strategic Action: Capitalize on breakout doctor adoption; expand NICU &amp; clinic quotas.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406640" y="3200400"/>
            <a:ext cx="4297680" cy="1024128"/>
          </a:xfrm>
          <a:prstGeom prst="roundRect">
            <a:avLst/>
          </a:prstGeom>
          <a:solidFill>
            <a:srgbClr val="D1ECF1"/>
          </a:solidFill>
          <a:ln w="19050">
            <a:solidFill>
              <a:srgbClr val="17A2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43800" y="327355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5460"/>
                </a:solidFill>
              </a:rPr>
              <a:t>TIER 2: SCALE COMPOUNDERS (+15% to +30%) 📈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543800" y="35204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Upper Egypt II (Beshoy Youhanna): 14.9k → 22.3k → 25.7k/mo (+15.2% vs H1 | +72.9%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Behera &amp; Dakahlia (Ahmed Sakr): 12.4k → 14.3k → 18.0k/mo (+26.1% vs H1 | +45.0%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Strategic Action: Maintain national volume engine, defend hospital contracts.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7406640" y="4297680"/>
            <a:ext cx="4297680" cy="1024128"/>
          </a:xfrm>
          <a:prstGeom prst="roundRect">
            <a:avLst/>
          </a:prstGeom>
          <a:solidFill>
            <a:srgbClr val="FFF3CD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543800" y="43708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6404"/>
                </a:solidFill>
              </a:rPr>
              <a:t>TIER 3: STEADY CONSOLIDATORS (0% to +10%) 🛡️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543800" y="46177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Guiza (Youstina Farag): 10.0k → 12.9k → 13.9k/mo (+7.5% vs H1 | +39.3%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Alexandria (Ahmed Hassan): 7.3k → 10.2k → 10.3k/mo (+1.1% vs H1 | +41.1%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Strategic Action: Stable run-rates preserved; activate P1 &amp; PS2 detailing.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7406640" y="5394960"/>
            <a:ext cx="4297680" cy="1024128"/>
          </a:xfrm>
          <a:prstGeom prst="roundRect">
            <a:avLst/>
          </a:prstGeom>
          <a:solidFill>
            <a:srgbClr val="F8D7DA"/>
          </a:solidFill>
          <a:ln w="19050">
            <a:solidFill>
              <a:srgbClr val="DC35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43800" y="546811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21C24"/>
                </a:solidFill>
              </a:rPr>
              <a:t>TIER 4: CONTRACTION WATCHLIST (NEGATIVE Q3) ⚠️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543800" y="571500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 (Shimaa Tarek): 15.2k → 20.1k → 18.6k/mo (-7.6% vs H1, but +22.2%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II (Mohamed Yousef): 14.2k → 22.8k → 16.7k/mo (-26.8% vs H1, but +17.2%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Strategic Action: High H1 baseline dip; audit stock availability &amp; rep calls.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2026-10-15T13:58:55Z</dcterms:created>
  <dcterms:modified xsi:type="dcterms:W3CDTF">2026-10-15T13:58:55Z</dcterms:modified>
</cp:coreProperties>
</file>