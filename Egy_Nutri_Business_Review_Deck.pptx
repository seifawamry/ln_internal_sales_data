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%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BDF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8888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Contribution % 2025</c:v>
                  </c:pt>
                  <c:pt idx="1">
                    <c:v>YTD Contribution % 2026</c:v>
                  </c:pt>
                  <c:pt idx="2">
                    <c:v>GEO Share % (2025 Potential)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14.37</c:v>
                </c:pt>
                <c:pt idx="1">
                  <c:v>16.13</c:v>
                </c:pt>
                <c:pt idx="2">
                  <c:v>15.61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MoAvg (Units)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1952</c:v>
                </c:pt>
                <c:pt idx="1">
                  <c:v>3392</c:v>
                </c:pt>
                <c:pt idx="2">
                  <c:v>4794</c:v>
                </c:pt>
                <c:pt idx="3">
                  <c:v>7416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MoAvg (Units)</c:v>
                </c:pt>
              </c:strCache>
            </c:strRef>
          </c:tx>
          <c:spPr>
            <a:solidFill>
              <a:srgbClr val="4A90E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1627</c:v>
                </c:pt>
                <c:pt idx="1">
                  <c:v>3588</c:v>
                </c:pt>
                <c:pt idx="2">
                  <c:v>1967</c:v>
                </c:pt>
                <c:pt idx="3">
                  <c:v>4877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 Avg / ADM</c:v>
                </c:pt>
              </c:strCache>
            </c:strRef>
          </c:tx>
          <c:spPr>
            <a:solidFill>
              <a:srgbClr val="D4AF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1804</c:v>
                </c:pt>
                <c:pt idx="1">
                  <c:v>2698</c:v>
                </c:pt>
                <c:pt idx="2">
                  <c:v>2713</c:v>
                </c:pt>
                <c:pt idx="3">
                  <c:v>4336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MoAvg (Units)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91</c:v>
                </c:pt>
                <c:pt idx="1">
                  <c:v>1110</c:v>
                </c:pt>
                <c:pt idx="2">
                  <c:v>684</c:v>
                </c:pt>
                <c:pt idx="3">
                  <c:v>770</c:v>
                </c:pt>
                <c:pt idx="4">
                  <c:v>485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MoAvg (Units)</c:v>
                </c:pt>
              </c:strCache>
            </c:strRef>
          </c:tx>
          <c:spPr>
            <a:solidFill>
              <a:srgbClr val="5EEA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</c:v>
                </c:pt>
                <c:pt idx="1">
                  <c:v>732</c:v>
                </c:pt>
                <c:pt idx="2">
                  <c:v>706</c:v>
                </c:pt>
                <c:pt idx="3">
                  <c:v>520</c:v>
                </c:pt>
                <c:pt idx="4">
                  <c:v>357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 Avg / ADM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80</c:v>
                </c:pt>
                <c:pt idx="1">
                  <c:v>835</c:v>
                </c:pt>
                <c:pt idx="2">
                  <c:v>520</c:v>
                </c:pt>
                <c:pt idx="3">
                  <c:v>655</c:v>
                </c:pt>
                <c:pt idx="4">
                  <c:v>482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MoAvg (Left)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4877</c:v>
                </c:pt>
                <c:pt idx="1">
                  <c:v>1967</c:v>
                </c:pt>
                <c:pt idx="2">
                  <c:v>3588</c:v>
                </c:pt>
                <c:pt idx="3">
                  <c:v>1627</c:v>
                </c:pt>
                <c:pt idx="4">
                  <c:v>2410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MoAvg (Left)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7416</c:v>
                </c:pt>
                <c:pt idx="1">
                  <c:v>4794</c:v>
                </c:pt>
                <c:pt idx="2">
                  <c:v>3392</c:v>
                </c:pt>
                <c:pt idx="3">
                  <c:v>1952</c:v>
                </c:pt>
                <c:pt idx="4">
                  <c:v>3744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Selected ADM PPG% (Right)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52.05</c:v>
                </c:pt>
                <c:pt idx="1">
                  <c:v>143.72</c:v>
                </c:pt>
                <c:pt idx="2">
                  <c:v>-5.47</c:v>
                </c:pt>
                <c:pt idx="3">
                  <c:v>19.95</c:v>
                </c:pt>
                <c:pt idx="4">
                  <c:v>55.35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Company Benchmark PPG% (Right)</c:v>
                </c:pt>
              </c:strCache>
            </c:strRef>
          </c:tx>
          <c:spPr>
            <a:solidFill>
              <a:srgbClr val="F59E0B"/>
            </a:solidFill>
            <a:ln w="2540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39.92</c:v>
                </c:pt>
                <c:pt idx="1">
                  <c:v>65.26</c:v>
                </c:pt>
                <c:pt idx="2">
                  <c:v>-2.06</c:v>
                </c:pt>
                <c:pt idx="3">
                  <c:v>39.86</c:v>
                </c:pt>
                <c:pt idx="4">
                  <c:v>10.45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Monthly Sales Volume (Cans)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Growth Rate (PPG%)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Sales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KFR EL.SHK (Karim)</c:v>
                  </c:pt>
                  <c:pt idx="1">
                    <c:v>Behera &amp; Dakahlia (Ahmed)</c:v>
                  </c:pt>
                  <c:pt idx="2">
                    <c:v>Cairo (NOHER)</c:v>
                  </c:pt>
                  <c:pt idx="3">
                    <c:v>Upper Egypt I (UE)</c:v>
                  </c:pt>
                  <c:pt idx="4">
                    <c:v>Guiza (Youstina)</c:v>
                  </c:pt>
                  <c:pt idx="5">
                    <c:v>DELTA I (Shimaa)</c:v>
                  </c:pt>
                  <c:pt idx="6">
                    <c:v>Alx (Ahmed)</c:v>
                  </c:pt>
                  <c:pt idx="7">
                    <c:v>Upper Egypt II (Beshoy)</c:v>
                  </c:pt>
                  <c:pt idx="8">
                    <c:v>Delta II (Mohamed)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</c:v>
                </c:pt>
                <c:pt idx="1">
                  <c:v>14.9</c:v>
                </c:pt>
                <c:pt idx="2">
                  <c:v>22.5</c:v>
                </c:pt>
                <c:pt idx="3">
                  <c:v>27.8</c:v>
                </c:pt>
                <c:pt idx="4">
                  <c:v>29.6</c:v>
                </c:pt>
                <c:pt idx="5">
                  <c:v>32.2</c:v>
                </c:pt>
                <c:pt idx="6">
                  <c:v>39.6</c:v>
                </c:pt>
                <c:pt idx="7">
                  <c:v>50.1</c:v>
                </c:pt>
                <c:pt idx="8">
                  <c:v>60.2</c:v>
                </c:pt>
                <c:pt idx="9">
                  <c:v>33.8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Pediamil 1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Upper Egypt I (UE)</c:v>
                  </c:pt>
                  <c:pt idx="1">
                    <c:v>Behera &amp; Dakahlia (Ahmed)</c:v>
                  </c:pt>
                  <c:pt idx="2">
                    <c:v>Cairo (NOHER)</c:v>
                  </c:pt>
                  <c:pt idx="3">
                    <c:v>Guiza (Youstina)</c:v>
                  </c:pt>
                  <c:pt idx="4">
                    <c:v>DELTA I (Shimaa)</c:v>
                  </c:pt>
                  <c:pt idx="5">
                    <c:v>KFR EL.SHK (Karim)</c:v>
                  </c:pt>
                  <c:pt idx="6">
                    <c:v>Upper Egypt II (Beshoy)</c:v>
                  </c:pt>
                  <c:pt idx="7">
                    <c:v>Delta II (Mohamed)</c:v>
                  </c:pt>
                  <c:pt idx="8">
                    <c:v>Alx (Ahmed)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15.8</c:v>
                </c:pt>
                <c:pt idx="1">
                  <c:v>18.1</c:v>
                </c:pt>
                <c:pt idx="2">
                  <c:v>30.8</c:v>
                </c:pt>
                <c:pt idx="3">
                  <c:v>31.1</c:v>
                </c:pt>
                <c:pt idx="4">
                  <c:v>36.2</c:v>
                </c:pt>
                <c:pt idx="5">
                  <c:v>39.1</c:v>
                </c:pt>
                <c:pt idx="6">
                  <c:v>52</c:v>
                </c:pt>
                <c:pt idx="7">
                  <c:v>60.3</c:v>
                </c:pt>
                <c:pt idx="8">
                  <c:v>89.2</c:v>
                </c:pt>
                <c:pt idx="9">
                  <c:v>39.9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Pediamil 2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Guiza (Youstina)</c:v>
                  </c:pt>
                  <c:pt idx="1">
                    <c:v>KFR EL.SHK (Karim)</c:v>
                  </c:pt>
                  <c:pt idx="2">
                    <c:v>Behera &amp; Dakahlia (Ahmed)</c:v>
                  </c:pt>
                  <c:pt idx="3">
                    <c:v>Upper Egypt I (UE)</c:v>
                  </c:pt>
                  <c:pt idx="4">
                    <c:v>Cairo (NOHER)</c:v>
                  </c:pt>
                  <c:pt idx="5">
                    <c:v>DELTA I (Shimaa)</c:v>
                  </c:pt>
                  <c:pt idx="6">
                    <c:v>Alx (Ahmed)</c:v>
                  </c:pt>
                  <c:pt idx="7">
                    <c:v>Delta II (Mohamed)</c:v>
                  </c:pt>
                  <c:pt idx="8">
                    <c:v>Upper Egypt II (Beshoy)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27.4</c:v>
                </c:pt>
                <c:pt idx="1">
                  <c:v>29.4</c:v>
                </c:pt>
                <c:pt idx="2">
                  <c:v>34.8</c:v>
                </c:pt>
                <c:pt idx="3">
                  <c:v>46.3</c:v>
                </c:pt>
                <c:pt idx="4">
                  <c:v>52.7</c:v>
                </c:pt>
                <c:pt idx="5">
                  <c:v>59.1</c:v>
                </c:pt>
                <c:pt idx="6">
                  <c:v>81.4</c:v>
                </c:pt>
                <c:pt idx="7">
                  <c:v>87.9</c:v>
                </c:pt>
                <c:pt idx="8">
                  <c:v>143.7</c:v>
                </c:pt>
                <c:pt idx="9">
                  <c:v>65.3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Pedia-Start 1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Behera &amp; Dakahlia (Ahmed)</c:v>
                  </c:pt>
                  <c:pt idx="1">
                    <c:v>Alx (Ahmed)</c:v>
                  </c:pt>
                  <c:pt idx="2">
                    <c:v>KFR EL.SHK (Karim)</c:v>
                  </c:pt>
                  <c:pt idx="3">
                    <c:v>Cairo (NOHER)</c:v>
                  </c:pt>
                  <c:pt idx="4">
                    <c:v>Upper Egypt II (Beshoy)</c:v>
                  </c:pt>
                  <c:pt idx="5">
                    <c:v>DELTA I (Shimaa)</c:v>
                  </c:pt>
                  <c:pt idx="6">
                    <c:v>Delta II (Mohamed)</c:v>
                  </c:pt>
                  <c:pt idx="7">
                    <c:v>Guiza (Youstina)</c:v>
                  </c:pt>
                  <c:pt idx="8">
                    <c:v>Upper Egypt I (UE)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-19</c:v>
                </c:pt>
                <c:pt idx="1">
                  <c:v>-13.5</c:v>
                </c:pt>
                <c:pt idx="2">
                  <c:v>-10.8</c:v>
                </c:pt>
                <c:pt idx="3">
                  <c:v>-9.3</c:v>
                </c:pt>
                <c:pt idx="4">
                  <c:v>-5.5</c:v>
                </c:pt>
                <c:pt idx="5">
                  <c:v>-0.6</c:v>
                </c:pt>
                <c:pt idx="6">
                  <c:v>6.2</c:v>
                </c:pt>
                <c:pt idx="7">
                  <c:v>17.4</c:v>
                </c:pt>
                <c:pt idx="8">
                  <c:v>17.6</c:v>
                </c:pt>
                <c:pt idx="9">
                  <c:v>-2.1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Pedia-Start 2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Cairo (NOHER)</c:v>
                  </c:pt>
                  <c:pt idx="1">
                    <c:v>KFR EL.SHK (Karim)</c:v>
                  </c:pt>
                  <c:pt idx="2">
                    <c:v>Alx (Ahmed)</c:v>
                  </c:pt>
                  <c:pt idx="3">
                    <c:v>Upper Egypt II (Beshoy)</c:v>
                  </c:pt>
                  <c:pt idx="4">
                    <c:v>DELTA I (Shimaa)</c:v>
                  </c:pt>
                  <c:pt idx="5">
                    <c:v>Behera &amp; Dakahlia (Ahmed)</c:v>
                  </c:pt>
                  <c:pt idx="6">
                    <c:v>Upper Egypt I (UE)</c:v>
                  </c:pt>
                  <c:pt idx="7">
                    <c:v>Guiza (Youstina)</c:v>
                  </c:pt>
                  <c:pt idx="8">
                    <c:v>Delta II (Mohamed)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-20.2</c:v>
                </c:pt>
                <c:pt idx="1">
                  <c:v>-6.3</c:v>
                </c:pt>
                <c:pt idx="2">
                  <c:v>15.5</c:v>
                </c:pt>
                <c:pt idx="3">
                  <c:v>19.9</c:v>
                </c:pt>
                <c:pt idx="4">
                  <c:v>37.1</c:v>
                </c:pt>
                <c:pt idx="5">
                  <c:v>41.5</c:v>
                </c:pt>
                <c:pt idx="6">
                  <c:v>59</c:v>
                </c:pt>
                <c:pt idx="7">
                  <c:v>78.2</c:v>
                </c:pt>
                <c:pt idx="8">
                  <c:v>102.3</c:v>
                </c:pt>
                <c:pt idx="9">
                  <c:v>39.9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TERRITORIAL CONTRIBUTION &amp; GEO SHARE (SELECTED ADM)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3-Bar Share Analysis for Selected ADM (Beshoy Youhanna) with values plotted directly on the bars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029200"/>
            <a:ext cx="6583680" cy="14630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28A7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516636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SELECTED ADM SHARE DIAGNOSTIC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5440680"/>
            <a:ext cx="6217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2026 Current Contribution: 16.13% (Highest volume share in Egypt)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GEO Market Potential: 15.61% | Variance vs. Potential: +0.52% (Exceeding territory potential)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Year-over-Year Gain: +1.76% expansion vs Full-Year 2025 contribution (14.37%)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303520"/>
        </p:xfrm>
        <a:graphic>
          <a:graphicData uri="http://schemas.openxmlformats.org/drawingml/2006/table">
            <a:tbl>
              <a:tblPr/>
              <a:tblGrid>
                <a:gridCol w="1280160"/>
                <a:gridCol w="731520"/>
                <a:gridCol w="777240"/>
                <a:gridCol w="777240"/>
                <a:gridCol w="82296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GEO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 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 25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Diff (Geo)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10.1%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-2.72%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10.3%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+0.59%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6.9%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-8.29%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-5.20%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+7.25%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16.5%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13.8%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+4.20%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11.9%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-2.14%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👉 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15.6%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16.1%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+0.52%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+5.80%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INFANT NUTRITION: MONTHLY SALES AVERAGES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with exact values on the bars: Beshoy Youhanna (Upper Egypt II) vs 2025 vs Line Avg/ADM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89120" cy="292608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822960"/>
                <a:gridCol w="822960"/>
              </a:tblGrid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Core Product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PPG Growth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Line Avg/ADM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7,416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4,877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+52.1%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4,336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4,794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1,967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+143.7%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2,713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Pedia-Start 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3,392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3,588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</a:rPr>
                        <a:t>-5.5%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2,698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Pedia-Start 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1,952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+20.0%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1,804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4572000"/>
            <a:ext cx="4389120" cy="16459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98080" y="4709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</a:rPr>
              <a:t>KEY BENCHMARK INSIGHTS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498080" y="4983480"/>
            <a:ext cx="4023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2 showed extraordinary momentum (+143.7% PPG), reaching 4,794 cans/mo.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1 reached 7,416 cans/mo (+52.1% PPG), far above the Line Average (4,336 cans).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Pedia-Start 1 is 3,392 cans/mo, closely aligned with national Line Average quota.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Horizontal layout provides immediate visual comparison against team quota.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SPECIALTY NUTRITION: MONTHLY SALES AVERAGES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with exact values on the bars: Beshoy Youhanna vs 2025 vs Line Avg/ADM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89120" cy="3200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822960"/>
                <a:gridCol w="822960"/>
              </a:tblGrid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Specialty SKU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PPG Growth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Line Avg/ADM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LF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+35.8%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482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+48.1%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655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</a:rPr>
                        <a:t>-3.0%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520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AC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1,110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+51.6%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835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</a:rPr>
                        <a:t>-4.7%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80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4754880"/>
            <a:ext cx="4389120" cy="146304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98080" y="48463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</a:rPr>
              <a:t>SPECIALTY SEGMENT STRATEGY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498080" y="512064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AC (1,110 cans/mo) and Pediamil HA (770 cans/mo) outpace line benchmarks.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AR &amp; Pediamum require targeted clinic detailing.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In the web dashboard, changing the dropdown updates these horizontal bars instantly for any manager.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DUAL-AXIS DEEP DIVE: SELECTED ADM vs COMPANY BENCHMARK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Dual-Axis Combo Chart: Volume (Bars, Primary Axis) &amp; Growth Rate % (Lines, Secondary Axis) with figures table below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315200" y="1188720"/>
            <a:ext cx="4389120" cy="1554480"/>
          </a:xfrm>
          <a:prstGeom prst="roundRect">
            <a:avLst/>
          </a:prstGeom>
          <a:solidFill>
            <a:srgbClr val="D4EDDA"/>
          </a:solidFill>
          <a:ln w="25400">
            <a:solidFill>
              <a:srgbClr val="28A7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0" y="13258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5724"/>
                </a:solidFill>
              </a:rPr>
              <a:t>SELECTED ADM: BESHOY YOUHANNA (UPPER EGYPT II)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16459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🟢 TOTAL GROWTH: +50.11% PPG (vs Company: +33.79%)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STATUS: ABOVE COMPANY BENCHMARK (+16.3% AHEAD)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C3E50"/>
                </a:solidFill>
              </a:rPr>
              <a:t>Interactive Feature: In the web review sheet, this combo chart is frozen at the top of the screen as you scroll down through the figures.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7315200" y="2834640"/>
            <a:ext cx="4389120" cy="1554480"/>
          </a:xfrm>
          <a:prstGeom prst="roundRect">
            <a:avLst/>
          </a:prstGeom>
          <a:solidFill>
            <a:srgbClr val="F8D7DA"/>
          </a:solidFill>
          <a:ln w="25400">
            <a:solidFill>
              <a:srgbClr val="DC354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98080" y="29260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BELOW-BENCHMARK RULE (RED SHAPE)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98080" y="324612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🔻 AUTOMATIC RED HIGHLIGHT WHEN SELECTED ADM &lt; COMPANY: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When selecting an underperforming territory (e.g. Cairo +22.5%, Behera +15.0%, KFR +12.0%), the alert box switches dynamically to RED with gap shortfall metrics.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173736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645920"/>
                <a:gridCol w="2011680"/>
                <a:gridCol w="1828800"/>
                <a:gridCol w="2286000"/>
              </a:tblGrid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Product Category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2025 Mo.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2026 Mo.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Chosen Person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Company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Growth Variance vs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Pediamil 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4,877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7,416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+12.1%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Pediamil 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1,967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4,794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+143.7%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+65.3%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+78.5%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Pedia-Start 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3,588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3,392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-2.1%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-3.4% 🔻 Below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Pedia-Start 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1,952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-19.9% 🔻 Below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Specialties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2,410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3,744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+55.4%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+10.4%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+44.9%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Benchmark: +33.79%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Total Sales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+33.8%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+60.2%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+50.1%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+39.6%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+32.2%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+27.8%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+22.5%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+14.9%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1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1 National Benchmark: +39.92%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Pediamil 1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+89.2%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+60.3%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+39.1%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+36.2%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+31.1%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+30.8%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+18.1%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+15.8%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2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2 National Benchmark: +65.26%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Pediamil 2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+65.3%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+143.7%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+81.4%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+59.1%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+52.7%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+46.3%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+34.8%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+29.4%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1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1 National Benchmark: -2.06%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Pedia-Start 1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-2.1%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+17.6%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-0.6%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-9.3%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-10.8%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-13.5%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2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2 National Benchmark: +39.86%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Pedia-Start 2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+102.3%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+78.2%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+41.5%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+37.1%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+15.5%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-20.2%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PERFORMANCE QUADRANT MATRIX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Intercept at Company Total PPG (+33.79%) | Vertical Intercept at 0.00% | Selected ADM Highlighted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11247120" cy="13258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1D95"/>
                </a:solidFill>
              </a:rPr>
              <a:t>🎯 SELECTED ADM STRATEGIC DIAGNOSTIC: BESHOY YOUHANNA (UPPER EGYPT II) — QUADRANT A: STAR 🌟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1600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Performance Coordinates: X (Contribution Diff vs GEO) = +0.52% | Y (Total PPG Growth) = +50.11% (vs Company +33.79%)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Portfolio Share: Delivers 16.13% of Egypt Total Sales (133,831 cans YTD). Exceeds geographic potential and leads the nation in volume.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Strategic Directives: Protect market dominance against aggressive competitor rep detailing, secure NICU hospital listings for Pedia-Start &amp; LBW, and drive multi-can specialty bundling in community pharmacies.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7920" y="2606040"/>
            <a:ext cx="5394960" cy="1783080"/>
          </a:xfrm>
          <a:prstGeom prst="roundRect">
            <a:avLst/>
          </a:prstGeom>
          <a:solidFill>
            <a:srgbClr val="E8F8F0"/>
          </a:solidFill>
          <a:ln w="25400">
            <a:solidFill>
              <a:srgbClr val="28A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6974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5724"/>
                </a:solidFill>
              </a:rPr>
              <a:t>QUADRANT A: COMPANY STARS 🌟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55724"/>
                </a:solidFill>
              </a:rPr>
              <a:t>(High Growth &gt; +33.8% PPG &amp; Positive Contr. Diff &gt; 0%)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0" y="315468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• Delta II (Mohamed Yousef): +60.2% PPG, +4.20% Diff, 136.7k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• Upper Egypt II (Beshoy Youhanna): +50.1% PPG, +0.52% Diff, 133.8k units [HIGHLIGHTED]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Strategic Action: Maintain national volume engine, protect prescription share.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606040"/>
            <a:ext cx="5486400" cy="1783080"/>
          </a:xfrm>
          <a:prstGeom prst="roundRect">
            <a:avLst/>
          </a:prstGeom>
          <a:solidFill>
            <a:srgbClr val="EBF5FB"/>
          </a:solidFill>
          <a:ln w="25400">
            <a:solidFill>
              <a:srgbClr val="2980B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9748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</a:rPr>
              <a:t>QUADRANT B: HIGH-GROWTH CHALLENGERS 🚀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</a:rPr>
              <a:t>(High Growth &gt; +33.8% PPG &amp; Negative Contr. Diff &lt; 0%)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15468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• Alx (Ahmed Hassan): +39.6% PPG, -2.72% Diff, 61.2k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Strategic Action: Rapidly closing gap to 10.1% GEO potential. Accelerate key accounts and pharmacy stocking.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4526280"/>
            <a:ext cx="5486400" cy="1783080"/>
          </a:xfrm>
          <a:prstGeom prst="roundRect">
            <a:avLst/>
          </a:prstGeom>
          <a:solidFill>
            <a:srgbClr val="FCECEE"/>
          </a:solidFill>
          <a:ln w="25400">
            <a:solidFill>
              <a:srgbClr val="DC35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6177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QUADRANT D: LOWEST PERFORMERS / CRITICAL ATTENTION ⚠️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(Low Growth &lt; +33.8% PPG &amp; Negative Contr. Diff &lt; 0%)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507492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• Cairo (Noher Adel): +22.5% PPG, -8.29% Diff (6.3% contr vs 14.6% geo!)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• Guiza (Youstina Farag): +29.6% PPG, -5.20% Diff | Upper Egypt I: +27.8% PPG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Strategic Action: Immediate management review. Re-allocate detailing reps, audit pharmacy distribution.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217920" y="4526280"/>
            <a:ext cx="5394960" cy="1783080"/>
          </a:xfrm>
          <a:prstGeom prst="roundRect">
            <a:avLst/>
          </a:prstGeom>
          <a:solidFill>
            <a:srgbClr val="FEF9E7"/>
          </a:solidFill>
          <a:ln w="254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617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</a:rPr>
              <a:t>QUADRANT C: VOLUME PILLARS &amp; SHARE KEEPERS 🛡️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</a:rPr>
              <a:t>(Moderate Growth &lt; +33.8% PPG &amp; Positive Contr. Diff &gt; 0%)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507492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DELTA I (Shimaa Tarek): +32.2% PPG, +7.25% Diff, 120.9k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KFR EL.SHK (Karim Shehab): +12.0% PPG, +5.80% Diff | Behera: +15.0% PPG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Strategic Action: Strong contribution defenders. Drive specialty formulas to lift growth above +33.8%.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2026-10-06T17:25:47Z</dcterms:created>
  <dcterms:modified xsi:type="dcterms:W3CDTF">2026-10-06T17:25:47Z</dcterms:modified>
</cp:coreProperties>
</file>