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16.13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1952</c:v>
                </c:pt>
                <c:pt idx="1">
                  <c:v>3392</c:v>
                </c:pt>
                <c:pt idx="2">
                  <c:v>4794</c:v>
                </c:pt>
                <c:pt idx="3">
                  <c:v>7416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1804</c:v>
                </c:pt>
                <c:pt idx="1">
                  <c:v>2698</c:v>
                </c:pt>
                <c:pt idx="2">
                  <c:v>2713</c:v>
                </c:pt>
                <c:pt idx="3">
                  <c:v>4336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</c:v>
                </c:pt>
                <c:pt idx="1">
                  <c:v>1110</c:v>
                </c:pt>
                <c:pt idx="2">
                  <c:v>684</c:v>
                </c:pt>
                <c:pt idx="3">
                  <c:v>770</c:v>
                </c:pt>
                <c:pt idx="4">
                  <c:v>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</c:v>
                </c:pt>
                <c:pt idx="1">
                  <c:v>835</c:v>
                </c:pt>
                <c:pt idx="2">
                  <c:v>520</c:v>
                </c:pt>
                <c:pt idx="3">
                  <c:v>655</c:v>
                </c:pt>
                <c:pt idx="4">
                  <c:v>482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7416</c:v>
                </c:pt>
                <c:pt idx="1">
                  <c:v>4794</c:v>
                </c:pt>
                <c:pt idx="2">
                  <c:v>3392</c:v>
                </c:pt>
                <c:pt idx="3">
                  <c:v>1952</c:v>
                </c:pt>
                <c:pt idx="4">
                  <c:v>3744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52.05</c:v>
                </c:pt>
                <c:pt idx="1">
                  <c:v>143.72</c:v>
                </c:pt>
                <c:pt idx="2">
                  <c:v>-5.47</c:v>
                </c:pt>
                <c:pt idx="3">
                  <c:v>19.95</c:v>
                </c:pt>
                <c:pt idx="4">
                  <c:v>55.35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39.92</c:v>
                </c:pt>
                <c:pt idx="1">
                  <c:v>65.26</c:v>
                </c:pt>
                <c:pt idx="2">
                  <c:v>-2.06</c:v>
                </c:pt>
                <c:pt idx="3">
                  <c:v>39.86</c:v>
                </c:pt>
                <c:pt idx="4">
                  <c:v>10.45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KFR EL.SHK (Karim)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Upper Egypt I (UE)</c:v>
                  </c:pt>
                  <c:pt idx="4">
                    <c:v>Guiza (Youstina)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Upper Egypt II (Beshoy)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14.9</c:v>
                </c:pt>
                <c:pt idx="2">
                  <c:v>22.5</c:v>
                </c:pt>
                <c:pt idx="3">
                  <c:v>27.8</c:v>
                </c:pt>
                <c:pt idx="4">
                  <c:v>29.6</c:v>
                </c:pt>
                <c:pt idx="5">
                  <c:v>32.2</c:v>
                </c:pt>
                <c:pt idx="6">
                  <c:v>39.6</c:v>
                </c:pt>
                <c:pt idx="7">
                  <c:v>50.1</c:v>
                </c:pt>
                <c:pt idx="8">
                  <c:v>60.2</c:v>
                </c:pt>
                <c:pt idx="9">
                  <c:v>33.8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Upper Egypt I (UE)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Guiza (Youstina)</c:v>
                  </c:pt>
                  <c:pt idx="4">
                    <c:v>DELTA I (Shimaa)</c:v>
                  </c:pt>
                  <c:pt idx="5">
                    <c:v>KFR EL.SHK (Karim)</c:v>
                  </c:pt>
                  <c:pt idx="6">
                    <c:v>Upper Egypt II (Beshoy)</c:v>
                  </c:pt>
                  <c:pt idx="7">
                    <c:v>Delta II (Mohamed)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15.8</c:v>
                </c:pt>
                <c:pt idx="1">
                  <c:v>18.1</c:v>
                </c:pt>
                <c:pt idx="2">
                  <c:v>30.8</c:v>
                </c:pt>
                <c:pt idx="3">
                  <c:v>31.1</c:v>
                </c:pt>
                <c:pt idx="4">
                  <c:v>36.2</c:v>
                </c:pt>
                <c:pt idx="5">
                  <c:v>39.1</c:v>
                </c:pt>
                <c:pt idx="6">
                  <c:v>52</c:v>
                </c:pt>
                <c:pt idx="7">
                  <c:v>60.3</c:v>
                </c:pt>
                <c:pt idx="8">
                  <c:v>89.2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Upper Egypt I (UE)</c:v>
                  </c:pt>
                  <c:pt idx="4">
                    <c:v>Cairo (NOHER)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Delta II (Mohamed)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29.4</c:v>
                </c:pt>
                <c:pt idx="2">
                  <c:v>34.8</c:v>
                </c:pt>
                <c:pt idx="3">
                  <c:v>46.3</c:v>
                </c:pt>
                <c:pt idx="4">
                  <c:v>52.7</c:v>
                </c:pt>
                <c:pt idx="5">
                  <c:v>59.1</c:v>
                </c:pt>
                <c:pt idx="6">
                  <c:v>81.4</c:v>
                </c:pt>
                <c:pt idx="7">
                  <c:v>87.9</c:v>
                </c:pt>
                <c:pt idx="8">
                  <c:v>143.7</c:v>
                </c:pt>
                <c:pt idx="9">
                  <c:v>65.3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KFR EL.SHK (Karim)</c:v>
                  </c:pt>
                  <c:pt idx="3">
                    <c:v>Cairo (NOHER)</c:v>
                  </c:pt>
                  <c:pt idx="4">
                    <c:v>Upper Egypt II (Beshoy)</c:v>
                  </c:pt>
                  <c:pt idx="5">
                    <c:v>DELTA I (Shimaa)</c:v>
                  </c:pt>
                  <c:pt idx="6">
                    <c:v>Delta II (Mohamed)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-19</c:v>
                </c:pt>
                <c:pt idx="1">
                  <c:v>-13.5</c:v>
                </c:pt>
                <c:pt idx="2">
                  <c:v>-10.8</c:v>
                </c:pt>
                <c:pt idx="3">
                  <c:v>-9.3</c:v>
                </c:pt>
                <c:pt idx="4">
                  <c:v>-5.5</c:v>
                </c:pt>
                <c:pt idx="5">
                  <c:v>-0.6</c:v>
                </c:pt>
                <c:pt idx="6">
                  <c:v>6.2</c:v>
                </c:pt>
                <c:pt idx="7">
                  <c:v>17.4</c:v>
                </c:pt>
                <c:pt idx="8">
                  <c:v>17.6</c:v>
                </c:pt>
                <c:pt idx="9">
                  <c:v>-2.1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Upper Egypt II (Beshoy)</c:v>
                  </c:pt>
                  <c:pt idx="4">
                    <c:v>DELTA I (Shimaa)</c:v>
                  </c:pt>
                  <c:pt idx="5">
                    <c:v>Behera &amp; Dakahlia (Ahmed)</c:v>
                  </c:pt>
                  <c:pt idx="6">
                    <c:v>Upper Egypt I (UE)</c:v>
                  </c:pt>
                  <c:pt idx="7">
                    <c:v>Guiza (Youstina)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-20.2</c:v>
                </c:pt>
                <c:pt idx="1">
                  <c:v>-6.3</c:v>
                </c:pt>
                <c:pt idx="2">
                  <c:v>15.5</c:v>
                </c:pt>
                <c:pt idx="3">
                  <c:v>19.9</c:v>
                </c:pt>
                <c:pt idx="4">
                  <c:v>37.1</c:v>
                </c:pt>
                <c:pt idx="5">
                  <c:v>41.5</c:v>
                </c:pt>
                <c:pt idx="6">
                  <c:v>59</c:v>
                </c:pt>
                <c:pt idx="7">
                  <c:v>78.2</c:v>
                </c:pt>
                <c:pt idx="8">
                  <c:v>102.3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16.13% (Highest volume share in Egypt)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+0.52%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+1.76%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-2.72%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-8.29%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+7.25%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16.5%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-2.14%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+5.80%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(Upper Egypt II)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+52.1%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2,698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+20.0%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1,804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showed extraordinary momentum (+143.7% PPG), reaching 4,794 cans/mo.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7,416 cans/mo (+52.1% PPG), far above the Line Average (4,336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3,392 cans/mo, closely aligned with national Line Average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Horizontal layout provides immediate visual comparison against team quota.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+35.8%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+48.1%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655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-3.0%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1,110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+51.6%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-4.7%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(1,110 cans/mo) and Pediamil HA (770 cans/mo) outpace line benchmarks.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AR &amp; Pediamum require targeted clinic detailing.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In the web dashboard, changing the dropdown updates these horizontal bars instantly for any manager.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 with figures table below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+50.11% PPG (vs Company: +33.79%)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(+16.3%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sheet, this combo chart is frozen at the top of the screen as you scroll down through the figures.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Cairo +22.5%, Behera +15.0%, KFR +12.0%), the alert box switches dynamically to RED with gap shortfall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Chosen Person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+12.1%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+78.5%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-3.4%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-19.9%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3,744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+10.4%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+33.79%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+33.8%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+39.92%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+18.1%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+65.26%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+52.7%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-2.06%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-0.6%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+39.86%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+102.3%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+41.5%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Total PPG (+33.79%) | Vertical Intercept at 0.00% | Selected ADM Highlighted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+0.52% | Y (Total PPG Growth) = +50.11% (vs Company +33.79%)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16.13% of Egypt Total Sales (133,831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+33.8%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+60.2% PPG, +4.20% Diff, 136.7k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+50.1% PPG, +0.52% Diff, 133.8k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+33.8%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+39.6% PPG, -2.72% Diff, 61.2k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Rapidly closing gap to 10.1% GEO potential. Accelerate key accounts and pharmacy stocking.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+33.8%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Cairo (Noher Adel): +22.5% PPG, -8.29% Diff (6.3% contr vs 14.6% geo!)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+29.6% PPG, -5.20% Diff | Upper Egypt I: +27.8%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Immediate management review. Re-allocate detailing reps, audit pharmacy distribution.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+33.8%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+32.2% PPG, +7.25% Diff, 120.9k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+12.0% PPG, +5.80% Diff | Behera: +15.0%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+33.8%.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2026-10-07T13:24:24Z</dcterms:created>
  <dcterms:modified xsi:type="dcterms:W3CDTF">2026-10-07T13:24:24Z</dcterms:modified>
</cp:coreProperties>
</file>