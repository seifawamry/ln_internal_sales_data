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%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365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Contribution % 2025</c:v>
                  </c:pt>
                  <c:pt idx="1">
                    <c:v>YTD Contribution % 2026</c:v>
                  </c:pt>
                  <c:pt idx="2">
                    <c:v>GEO Share % (2025 Potential)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14.37</c:v>
                </c:pt>
                <c:pt idx="1">
                  <c:v>16.24</c:v>
                </c:pt>
                <c:pt idx="2">
                  <c:v>15.61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 MoAvg (Units)</c:v>
                </c:pt>
              </c:strCache>
            </c:strRef>
          </c:tx>
          <c:spPr>
            <a:solidFill>
              <a:srgbClr val="1B36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Pedia-Start 2</c:v>
                  </c:pt>
                  <c:pt idx="1">
                    <c:v>Pedia-Start 1</c:v>
                  </c:pt>
                  <c:pt idx="2">
                    <c:v>Pediamil 2</c:v>
                  </c:pt>
                  <c:pt idx="3">
                    <c:v>Pediamil 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2182</c:v>
                </c:pt>
                <c:pt idx="1">
                  <c:v>3873</c:v>
                </c:pt>
                <c:pt idx="2">
                  <c:v>4469</c:v>
                </c:pt>
                <c:pt idx="3">
                  <c:v>7890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MoAvg (Units)</c:v>
                </c:pt>
              </c:strCache>
            </c:strRef>
          </c:tx>
          <c:spPr>
            <a:solidFill>
              <a:srgbClr val="4A90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Pedia-Start 2</c:v>
                  </c:pt>
                  <c:pt idx="1">
                    <c:v>Pedia-Start 1</c:v>
                  </c:pt>
                  <c:pt idx="2">
                    <c:v>Pediamil 2</c:v>
                  </c:pt>
                  <c:pt idx="3">
                    <c:v>Pediamil 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1627</c:v>
                </c:pt>
                <c:pt idx="1">
                  <c:v>3588</c:v>
                </c:pt>
                <c:pt idx="2">
                  <c:v>1967</c:v>
                </c:pt>
                <c:pt idx="3">
                  <c:v>4877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Line Avg / ADM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Pedia-Start 2</c:v>
                  </c:pt>
                  <c:pt idx="1">
                    <c:v>Pedia-Start 1</c:v>
                  </c:pt>
                  <c:pt idx="2">
                    <c:v>Pediamil 2</c:v>
                  </c:pt>
                  <c:pt idx="3">
                    <c:v>Pediamil 1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1774</c:v>
                </c:pt>
                <c:pt idx="1">
                  <c:v>3019</c:v>
                </c:pt>
                <c:pt idx="2">
                  <c:v>2767</c:v>
                </c:pt>
                <c:pt idx="3">
                  <c:v>4551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 MoAvg (Units)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Pediamum</c:v>
                  </c:pt>
                  <c:pt idx="1">
                    <c:v>Pediamil AC</c:v>
                  </c:pt>
                  <c:pt idx="2">
                    <c:v>Pediamil AR</c:v>
                  </c:pt>
                  <c:pt idx="3">
                    <c:v>Pediamil HA</c:v>
                  </c:pt>
                  <c:pt idx="4">
                    <c:v>Pediamil LF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</c:v>
                </c:pt>
                <c:pt idx="1">
                  <c:v>1517</c:v>
                </c:pt>
                <c:pt idx="2">
                  <c:v>834</c:v>
                </c:pt>
                <c:pt idx="3">
                  <c:v>1017</c:v>
                </c:pt>
                <c:pt idx="4">
                  <c:v>435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MoAvg (Units)</c:v>
                </c:pt>
              </c:strCache>
            </c:strRef>
          </c:tx>
          <c:spPr>
            <a:solidFill>
              <a:srgbClr val="5EEA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Pediamum</c:v>
                  </c:pt>
                  <c:pt idx="1">
                    <c:v>Pediamil AC</c:v>
                  </c:pt>
                  <c:pt idx="2">
                    <c:v>Pediamil AR</c:v>
                  </c:pt>
                  <c:pt idx="3">
                    <c:v>Pediamil HA</c:v>
                  </c:pt>
                  <c:pt idx="4">
                    <c:v>Pediamil LF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96</c:v>
                </c:pt>
                <c:pt idx="1">
                  <c:v>732</c:v>
                </c:pt>
                <c:pt idx="2">
                  <c:v>706</c:v>
                </c:pt>
                <c:pt idx="3">
                  <c:v>520</c:v>
                </c:pt>
                <c:pt idx="4">
                  <c:v>357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Line Avg / ADM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Pediamum</c:v>
                  </c:pt>
                  <c:pt idx="1">
                    <c:v>Pediamil AC</c:v>
                  </c:pt>
                  <c:pt idx="2">
                    <c:v>Pediamil AR</c:v>
                  </c:pt>
                  <c:pt idx="3">
                    <c:v>Pediamil HA</c:v>
                  </c:pt>
                  <c:pt idx="4">
                    <c:v>Pediamil LF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75</c:v>
                </c:pt>
                <c:pt idx="1">
                  <c:v>1119</c:v>
                </c:pt>
                <c:pt idx="2">
                  <c:v>568</c:v>
                </c:pt>
                <c:pt idx="3">
                  <c:v>879</c:v>
                </c:pt>
                <c:pt idx="4">
                  <c:v>407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MoAvg (Left)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Pediamil 1</c:v>
                  </c:pt>
                  <c:pt idx="1">
                    <c:v>Pediamil 2</c:v>
                  </c:pt>
                  <c:pt idx="2">
                    <c:v>Pedia-Start 1</c:v>
                  </c:pt>
                  <c:pt idx="3">
                    <c:v>Pedia-Start 2</c:v>
                  </c:pt>
                  <c:pt idx="4">
                    <c:v>Specialties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4877</c:v>
                </c:pt>
                <c:pt idx="1">
                  <c:v>1967</c:v>
                </c:pt>
                <c:pt idx="2">
                  <c:v>3588</c:v>
                </c:pt>
                <c:pt idx="3">
                  <c:v>1627</c:v>
                </c:pt>
                <c:pt idx="4">
                  <c:v>2410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MoAvg (Left)</c:v>
                </c:pt>
              </c:strCache>
            </c:strRef>
          </c:tx>
          <c:spPr>
            <a:solidFill>
              <a:srgbClr val="1B36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Pediamil 1</c:v>
                  </c:pt>
                  <c:pt idx="1">
                    <c:v>Pediamil 2</c:v>
                  </c:pt>
                  <c:pt idx="2">
                    <c:v>Pedia-Start 1</c:v>
                  </c:pt>
                  <c:pt idx="3">
                    <c:v>Pedia-Start 2</c:v>
                  </c:pt>
                  <c:pt idx="4">
                    <c:v>Specialties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7890</c:v>
                </c:pt>
                <c:pt idx="1">
                  <c:v>4469</c:v>
                </c:pt>
                <c:pt idx="2">
                  <c:v>3873</c:v>
                </c:pt>
                <c:pt idx="3">
                  <c:v>2182</c:v>
                </c:pt>
                <c:pt idx="4">
                  <c:v>4413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Selected ADM PPG% (Right)</c:v>
                </c:pt>
              </c:strCache>
            </c:strRef>
          </c:tx>
          <c:spPr>
            <a:solidFill>
              <a:srgbClr val="10B981"/>
            </a:solidFill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Pediamil 1</c:v>
                  </c:pt>
                  <c:pt idx="1">
                    <c:v>Pediamil 2</c:v>
                  </c:pt>
                  <c:pt idx="2">
                    <c:v>Pedia-Start 1</c:v>
                  </c:pt>
                  <c:pt idx="3">
                    <c:v>Pedia-Start 2</c:v>
                  </c:pt>
                  <c:pt idx="4">
                    <c:v>Specialties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61.76</c:v>
                </c:pt>
                <c:pt idx="1">
                  <c:v>127.23</c:v>
                </c:pt>
                <c:pt idx="2">
                  <c:v>7.93</c:v>
                </c:pt>
                <c:pt idx="3">
                  <c:v>34.1</c:v>
                </c:pt>
                <c:pt idx="4">
                  <c:v>83.25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Company Benchmark PPG% (Right)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Pediamil 1</c:v>
                  </c:pt>
                  <c:pt idx="1">
                    <c:v>Pediamil 2</c:v>
                  </c:pt>
                  <c:pt idx="2">
                    <c:v>Pedia-Start 1</c:v>
                  </c:pt>
                  <c:pt idx="3">
                    <c:v>Pedia-Start 2</c:v>
                  </c:pt>
                  <c:pt idx="4">
                    <c:v>Specialties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46.86</c:v>
                </c:pt>
                <c:pt idx="1">
                  <c:v>68.54</c:v>
                </c:pt>
                <c:pt idx="2">
                  <c:v>9.6</c:v>
                </c:pt>
                <c:pt idx="3">
                  <c:v>37.58</c:v>
                </c:pt>
                <c:pt idx="4">
                  <c:v>43.5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Monthly Sales Volume (Cans)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Growth Rate (PPG%)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PPG%</c:v>
                </c:pt>
              </c:strCache>
            </c:strRef>
          </c:tx>
          <c:spPr>
            <a:solidFill>
              <a:srgbClr val="DC3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B365D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Behera &amp; Dakahlia (Ahmed)</c:v>
                  </c:pt>
                  <c:pt idx="1">
                    <c:v>DELTA I (Shimaa)</c:v>
                  </c:pt>
                  <c:pt idx="2">
                    <c:v>KFR EL.SHK (Karim)</c:v>
                  </c:pt>
                  <c:pt idx="3">
                    <c:v>Guiza (Youstina)</c:v>
                  </c:pt>
                  <c:pt idx="4">
                    <c:v>Alx (Ahmed)</c:v>
                  </c:pt>
                  <c:pt idx="5">
                    <c:v>Delta II (Mohamed)</c:v>
                  </c:pt>
                  <c:pt idx="6">
                    <c:v>Upper Egypt I (UE)</c:v>
                  </c:pt>
                  <c:pt idx="7">
                    <c:v>Cairo (NOHER)</c:v>
                  </c:pt>
                  <c:pt idx="8">
                    <c:v>Upper Egypt II (Beshoy)</c:v>
                  </c:pt>
                  <c:pt idx="9">
                    <c:v>COMP: EGYPT TOTAL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</c:v>
                </c:pt>
                <c:pt idx="1">
                  <c:v>28.9</c:v>
                </c:pt>
                <c:pt idx="2">
                  <c:v>29.9</c:v>
                </c:pt>
                <c:pt idx="3">
                  <c:v>32.8</c:v>
                </c:pt>
                <c:pt idx="4">
                  <c:v>40.1</c:v>
                </c:pt>
                <c:pt idx="5">
                  <c:v>46</c:v>
                </c:pt>
                <c:pt idx="6">
                  <c:v>46.2</c:v>
                </c:pt>
                <c:pt idx="7">
                  <c:v>46.4</c:v>
                </c:pt>
                <c:pt idx="8">
                  <c:v>57.7</c:v>
                </c:pt>
                <c:pt idx="9">
                  <c:v>39.5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Pediamil 1 PPG%</c:v>
                </c:pt>
              </c:strCache>
            </c:strRef>
          </c:tx>
          <c:spPr>
            <a:solidFill>
              <a:srgbClr val="DC3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B365D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Behera &amp; Dakahlia (Ahmed)</c:v>
                  </c:pt>
                  <c:pt idx="1">
                    <c:v>DELTA I (Shimaa)</c:v>
                  </c:pt>
                  <c:pt idx="2">
                    <c:v>Upper Egypt I (UE)</c:v>
                  </c:pt>
                  <c:pt idx="3">
                    <c:v>Guiza (Youstina)</c:v>
                  </c:pt>
                  <c:pt idx="4">
                    <c:v>KFR EL.SHK (Karim)</c:v>
                  </c:pt>
                  <c:pt idx="5">
                    <c:v>Delta II (Mohamed)</c:v>
                  </c:pt>
                  <c:pt idx="6">
                    <c:v>Cairo (NOHER)</c:v>
                  </c:pt>
                  <c:pt idx="7">
                    <c:v>Upper Egypt II (Beshoy)</c:v>
                  </c:pt>
                  <c:pt idx="8">
                    <c:v>Alx (Ahmed)</c:v>
                  </c:pt>
                  <c:pt idx="9">
                    <c:v>COMP: EGYPT TOTAL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27.9</c:v>
                </c:pt>
                <c:pt idx="1">
                  <c:v>35.6</c:v>
                </c:pt>
                <c:pt idx="2">
                  <c:v>38.6</c:v>
                </c:pt>
                <c:pt idx="3">
                  <c:v>39.4</c:v>
                </c:pt>
                <c:pt idx="4">
                  <c:v>43.6</c:v>
                </c:pt>
                <c:pt idx="5">
                  <c:v>46</c:v>
                </c:pt>
                <c:pt idx="6">
                  <c:v>56.7</c:v>
                </c:pt>
                <c:pt idx="7">
                  <c:v>61.8</c:v>
                </c:pt>
                <c:pt idx="8">
                  <c:v>91.4</c:v>
                </c:pt>
                <c:pt idx="9">
                  <c:v>46.9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Pediamil 2 PPG%</c:v>
                </c:pt>
              </c:strCache>
            </c:strRef>
          </c:tx>
          <c:spPr>
            <a:solidFill>
              <a:srgbClr val="DC3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B365D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Guiza (Youstina)</c:v>
                  </c:pt>
                  <c:pt idx="1">
                    <c:v>KFR EL.SHK (Karim)</c:v>
                  </c:pt>
                  <c:pt idx="2">
                    <c:v>Behera &amp; Dakahlia (Ahmed)</c:v>
                  </c:pt>
                  <c:pt idx="3">
                    <c:v>DELTA I (Shimaa)</c:v>
                  </c:pt>
                  <c:pt idx="4">
                    <c:v>Delta II (Mohamed)</c:v>
                  </c:pt>
                  <c:pt idx="5">
                    <c:v>Upper Egypt I (UE)</c:v>
                  </c:pt>
                  <c:pt idx="6">
                    <c:v>Cairo (NOHER)</c:v>
                  </c:pt>
                  <c:pt idx="7">
                    <c:v>Alx (Ahmed)</c:v>
                  </c:pt>
                  <c:pt idx="8">
                    <c:v>Upper Egypt II (Beshoy)</c:v>
                  </c:pt>
                  <c:pt idx="9">
                    <c:v>COMP: EGYPT TOTAL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28.7</c:v>
                </c:pt>
                <c:pt idx="1">
                  <c:v>55</c:v>
                </c:pt>
                <c:pt idx="2">
                  <c:v>55.7</c:v>
                </c:pt>
                <c:pt idx="3">
                  <c:v>53.6</c:v>
                </c:pt>
                <c:pt idx="4">
                  <c:v>65.7</c:v>
                </c:pt>
                <c:pt idx="5">
                  <c:v>73.3</c:v>
                </c:pt>
                <c:pt idx="6">
                  <c:v>71.9</c:v>
                </c:pt>
                <c:pt idx="7">
                  <c:v>86.3</c:v>
                </c:pt>
                <c:pt idx="8">
                  <c:v>127.2</c:v>
                </c:pt>
                <c:pt idx="9">
                  <c:v>68.5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Pedia-Start 1 PPG%</c:v>
                </c:pt>
              </c:strCache>
            </c:strRef>
          </c:tx>
          <c:spPr>
            <a:solidFill>
              <a:srgbClr val="DC3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B365D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Behera &amp; Dakahlia (Ahmed)</c:v>
                  </c:pt>
                  <c:pt idx="1">
                    <c:v>Alx (Ahmed)</c:v>
                  </c:pt>
                  <c:pt idx="2">
                    <c:v>Delta II (Mohamed)</c:v>
                  </c:pt>
                  <c:pt idx="3">
                    <c:v>DELTA I (Shimaa)</c:v>
                  </c:pt>
                  <c:pt idx="4">
                    <c:v>KFR EL.SHK (Karim)</c:v>
                  </c:pt>
                  <c:pt idx="5">
                    <c:v>Upper Egypt II (Beshoy)</c:v>
                  </c:pt>
                  <c:pt idx="6">
                    <c:v>Cairo (NOHER)</c:v>
                  </c:pt>
                  <c:pt idx="7">
                    <c:v>Guiza (Youstina)</c:v>
                  </c:pt>
                  <c:pt idx="8">
                    <c:v>Upper Egypt I (UE)</c:v>
                  </c:pt>
                  <c:pt idx="9">
                    <c:v>COMP: EGYPT TOTAL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</c:v>
                </c:pt>
                <c:pt idx="1">
                  <c:v>-7.9</c:v>
                </c:pt>
                <c:pt idx="2">
                  <c:v>-4.1</c:v>
                </c:pt>
                <c:pt idx="3">
                  <c:v>-2.9</c:v>
                </c:pt>
                <c:pt idx="4">
                  <c:v>3.2</c:v>
                </c:pt>
                <c:pt idx="5">
                  <c:v>7.9</c:v>
                </c:pt>
                <c:pt idx="6">
                  <c:v>32.5</c:v>
                </c:pt>
                <c:pt idx="7">
                  <c:v>31.7</c:v>
                </c:pt>
                <c:pt idx="8">
                  <c:v>43.9</c:v>
                </c:pt>
                <c:pt idx="9">
                  <c:v>9.6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Pedia-Start 2 PPG%</c:v>
                </c:pt>
              </c:strCache>
            </c:strRef>
          </c:tx>
          <c:spPr>
            <a:solidFill>
              <a:srgbClr val="DC3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B365D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Cairo (NOHER)</c:v>
                  </c:pt>
                  <c:pt idx="1">
                    <c:v>KFR EL.SHK (Karim)</c:v>
                  </c:pt>
                  <c:pt idx="2">
                    <c:v>Alx (Ahmed)</c:v>
                  </c:pt>
                  <c:pt idx="3">
                    <c:v>DELTA I (Shimaa)</c:v>
                  </c:pt>
                  <c:pt idx="4">
                    <c:v>Behera &amp; Dakahlia (Ahmed)</c:v>
                  </c:pt>
                  <c:pt idx="5">
                    <c:v>Upper Egypt II (Beshoy)</c:v>
                  </c:pt>
                  <c:pt idx="6">
                    <c:v>Guiza (Youstina)</c:v>
                  </c:pt>
                  <c:pt idx="7">
                    <c:v>Upper Egypt I (UE)</c:v>
                  </c:pt>
                  <c:pt idx="8">
                    <c:v>Delta II (Mohamed)</c:v>
                  </c:pt>
                  <c:pt idx="9">
                    <c:v>COMP: EGYPT TOTAL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5.1</c:v>
                </c:pt>
                <c:pt idx="1">
                  <c:v>14.9</c:v>
                </c:pt>
                <c:pt idx="2">
                  <c:v>10.6</c:v>
                </c:pt>
                <c:pt idx="3">
                  <c:v>28.2</c:v>
                </c:pt>
                <c:pt idx="4">
                  <c:v>29.4</c:v>
                </c:pt>
                <c:pt idx="5">
                  <c:v>34.1</c:v>
                </c:pt>
                <c:pt idx="6">
                  <c:v>55.7</c:v>
                </c:pt>
                <c:pt idx="7">
                  <c:v>67</c:v>
                </c:pt>
                <c:pt idx="8">
                  <c:v>67.4</c:v>
                </c:pt>
                <c:pt idx="9">
                  <c:v>37.6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TERRITORIAL CONTRIBUTION &amp; GEO SHARE (SELECTED ADM)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3-Bar Share Analysis for Selected ADM (Beshoy Youhanna) with values plotted directly on the bars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6583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029200"/>
            <a:ext cx="6583680" cy="14630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8A7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1663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5724"/>
                </a:solidFill>
              </a:rPr>
              <a:t>SELECTED ADM SHARE DIAGNOSTIC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544068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5724"/>
                </a:solidFill>
              </a:rPr>
              <a:t>• 2026 Current Contribution: 16.24% (National volume leader, 210,911 cans YTD)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55724"/>
                </a:solidFill>
              </a:rPr>
              <a:t>• GEO Market Potential: 15.61% | Variance vs. Potential: +0.63% (Exceeding territory potential)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55724"/>
                </a:solidFill>
              </a:rPr>
              <a:t>• Year-over-Year Gain: +1.87% expansion vs Full-Year 2025 contribution (14.37%)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188720"/>
          <a:ext cx="4389120" cy="530352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777240"/>
                <a:gridCol w="777240"/>
                <a:gridCol w="82296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Territory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GEO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Contr 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Contr 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Diff (Geo)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Alx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10.1%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-3.00%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Behera &amp; Dakahlia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9.8%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10.8%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12.0%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+1.02%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Cairo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14.6%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7.3%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6.9%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-7.36%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Guiza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14.5%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9.2%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-5.36%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7.3%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13.6%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14.7%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+6.29%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12.3%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14.4%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13.8%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+2.12%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14.0%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13.1%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12.5%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-0.99%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👉 Upper Egypt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15.6%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16.2%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14.4%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+0.63%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KFR EL.SHK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1.8%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8.4%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+6.65%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INFANT NUTRITION: MONTHLY SALES AVERAGES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Bars with exact values: Beshoy Youhanna (Upper Egypt II) vs 2025 vs Line Avg/ADM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65836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371600"/>
          <a:ext cx="4389120" cy="2926080"/>
        </p:xfrm>
        <a:graphic>
          <a:graphicData uri="http://schemas.openxmlformats.org/drawingml/2006/table">
            <a:tbl>
              <a:tblPr/>
              <a:tblGrid>
                <a:gridCol w="1188720"/>
                <a:gridCol w="777240"/>
                <a:gridCol w="777240"/>
                <a:gridCol w="822960"/>
                <a:gridCol w="822960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Core Product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2026 MoAvg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2025 MoAvg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PPG Growth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Line Avg/ADM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Pediamil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7,890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4,877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</a:rPr>
                        <a:t>+61.8%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6CB0"/>
                          </a:solidFill>
                        </a:rPr>
                        <a:t>4,551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Pediamil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4,469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1,967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</a:rPr>
                        <a:t>+127.2%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6CB0"/>
                          </a:solidFill>
                        </a:rPr>
                        <a:t>2,767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Pedia-Start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3,873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3,588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365D"/>
                          </a:solidFill>
                        </a:rPr>
                        <a:t>+7.9%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6CB0"/>
                          </a:solidFill>
                        </a:rPr>
                        <a:t>3,019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Pedia-Start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2,182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1,627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365D"/>
                          </a:solidFill>
                        </a:rPr>
                        <a:t>+34.1%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6CB0"/>
                          </a:solidFill>
                        </a:rPr>
                        <a:t>1,774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315200" y="4572000"/>
            <a:ext cx="4389120" cy="16459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498080" y="4709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</a:rPr>
              <a:t>KEY BENCHMARK INSIGHTS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498080" y="4983480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Pediamil 1 reached 7,890 cans/mo (+61.8% PPG), dominating the line average (4,551 cans).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Pediamil 2 achieved 4,469 cans/mo (+127.2% PPG), doubling 2025 run-rates.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Pedia-Start 1 is 3,873 cans/mo, exceeding national line average (3,142 cans).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Pedia-Start 2 is 2,182 cans/mo, up +34.1% over 2025 baseline.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NUTRITION: MONTHLY SALES AVERAGES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Bars with exact values: Beshoy Youhanna vs 2025 vs Line Avg/ADM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65836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371600"/>
          <a:ext cx="4389120" cy="3200400"/>
        </p:xfrm>
        <a:graphic>
          <a:graphicData uri="http://schemas.openxmlformats.org/drawingml/2006/table">
            <a:tbl>
              <a:tblPr/>
              <a:tblGrid>
                <a:gridCol w="1188720"/>
                <a:gridCol w="777240"/>
                <a:gridCol w="777240"/>
                <a:gridCol w="822960"/>
                <a:gridCol w="82296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Specialty SKU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2026 MoAvg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2025 MoAvg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PPG Growth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Line Avg/ADM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Pediamil LF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365D"/>
                          </a:solidFill>
                        </a:rPr>
                        <a:t>+22.0%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6CB0"/>
                          </a:solidFill>
                        </a:rPr>
                        <a:t>407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Pediamil 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1,017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</a:rPr>
                        <a:t>+95.8%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6CB0"/>
                          </a:solidFill>
                        </a:rPr>
                        <a:t>879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Pediamil 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365D"/>
                          </a:solidFill>
                        </a:rPr>
                        <a:t>+18.1%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6CB0"/>
                          </a:solidFill>
                        </a:rPr>
                        <a:t>568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Pediamil AC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1,517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</a:rPr>
                        <a:t>+107.2%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6CB0"/>
                          </a:solidFill>
                        </a:rPr>
                        <a:t>1,119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Pediamum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365D"/>
                          </a:solidFill>
                        </a:rPr>
                        <a:t>+1.0%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6CB0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315200" y="4754880"/>
            <a:ext cx="4389120" cy="14630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498080" y="4846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</a:rPr>
              <a:t>SPECIALTY SEGMENT STRATEGY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498080" y="51206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Pediamil AC (1,517 cans/mo) surged +107.2% PPG, establishing clear pediatric leadership.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Pediamil HA (1,017 cans/mo) is up +95.7% PPG, outpacing national quota.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Specialty portfolio provides superior margins and clinical prescription stickiness.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DEEP DIVE: SELECTED ADM vs COMPANY BENCHMARK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Combo Chart: Volume (Bars, Primary Axis) &amp; Growth Rate % (Lines, Secondary Axis)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6583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315200" y="1188720"/>
            <a:ext cx="4389120" cy="1554480"/>
          </a:xfrm>
          <a:prstGeom prst="round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1325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5724"/>
                </a:solidFill>
              </a:rPr>
              <a:t>SELECTED ADM: BESHOY YOUHANNA (UPPER EGYPT II)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98080" y="16459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5724"/>
                </a:solidFill>
              </a:rPr>
              <a:t>🟢 TOTAL GROWTH: +57.71% PPG (vs Company: +39.54%)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55724"/>
                </a:solidFill>
              </a:rPr>
              <a:t>STATUS: ABOVE COMPANY BENCHMARK (+18.2% AHEAD)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0" y="2194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C3E50"/>
                </a:solidFill>
              </a:rPr>
              <a:t>Interactive Feature: In the web review dashboard, selecting any ADM from the header updates this dual-axis combo chart instantly.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315200" y="2834640"/>
            <a:ext cx="4389120" cy="1554480"/>
          </a:xfrm>
          <a:prstGeom prst="roundRect">
            <a:avLst/>
          </a:prstGeom>
          <a:solidFill>
            <a:srgbClr val="F8D7DA"/>
          </a:solidFill>
          <a:ln w="25400">
            <a:solidFill>
              <a:srgbClr val="DC35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0" y="2926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1C24"/>
                </a:solidFill>
              </a:rPr>
              <a:t>BELOW-BENCHMARK RULE (DYNAMIC RED SHAPE)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98080" y="32461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1C24"/>
                </a:solidFill>
              </a:rPr>
              <a:t>🔻 AUTOMATIC RED HIGHLIGHT WHEN SELECTED ADM &lt; COMPANY: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21C24"/>
                </a:solidFill>
              </a:rPr>
              <a:t>When selecting an underperforming territory (e.g. Behera +25.0%, Delta I +28.9%, Kfr El.Shk +29.9%, Guiza +32.8%), the card switches to RED with gap metrics.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0"/>
          <a:ext cx="11247120" cy="173736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645920"/>
                <a:gridCol w="2011680"/>
                <a:gridCol w="1828800"/>
                <a:gridCol w="2286000"/>
              </a:tblGrid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Product 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2025 Mo.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2026 Mo.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Selected ADM PPG%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Company PPG%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Growth Variance vs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Pediamil 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4,877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7,890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+61.8%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</a:rPr>
                        <a:t>+46.9%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+14.9% 🟢 Ahead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Pediamil 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1,967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4,469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+127.2%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</a:rPr>
                        <a:t>+68.5%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+58.7% 🟢 Ahead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Pedia-Start 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3,588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3,873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+7.9%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</a:rPr>
                        <a:t>+9.6%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-1.7% 🔻 Below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Pedia-Start 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1,627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2,182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+34.1%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</a:rPr>
                        <a:t>+37.6%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-3.5% 🔻 Below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Specialties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2,410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4,413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+83.3%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</a:rPr>
                        <a:t>+43.5%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+39.8% 🟢 Ahead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PPG% GROWTH RANKING (COMPANY AT TOP)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Benchmark: +39.5% | Green = Above Company | Red = Below Company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65836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188720"/>
          <a:ext cx="4389120" cy="5120640"/>
        </p:xfrm>
        <a:graphic>
          <a:graphicData uri="http://schemas.openxmlformats.org/drawingml/2006/table">
            <a:tbl>
              <a:tblPr/>
              <a:tblGrid>
                <a:gridCol w="548640"/>
                <a:gridCol w="1097280"/>
                <a:gridCol w="1188720"/>
                <a:gridCol w="777240"/>
                <a:gridCol w="777240"/>
              </a:tblGrid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Territory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District Manager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 Sales PPG%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 vs Company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EGYPT 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</a:rPr>
                        <a:t>Company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+39.5%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NATIONAL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Beshoy Youhanna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+57.7%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Cairo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NOHER ADEL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+46.4%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UE North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+46.2%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Mohamed Yousef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+46.0%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Alx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Ahmed Hassan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+40.1%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Guiza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Youstina Farag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+32.8%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KFR EL.SHK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Karim Shehab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+29.9%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Shimaa Tarek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+28.9%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Behera &amp; Dakahlia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Ahmed Mohamed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+25.0%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PEDIAMIL 1 PPG% GROWTH RANKING (COMPANY AT TOP)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Pediamil 1 National Benchmark: +46.9% | Green = Above Company | Red = Below Company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65836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188720"/>
          <a:ext cx="4389120" cy="5120640"/>
        </p:xfrm>
        <a:graphic>
          <a:graphicData uri="http://schemas.openxmlformats.org/drawingml/2006/table">
            <a:tbl>
              <a:tblPr/>
              <a:tblGrid>
                <a:gridCol w="548640"/>
                <a:gridCol w="1097280"/>
                <a:gridCol w="1188720"/>
                <a:gridCol w="777240"/>
                <a:gridCol w="777240"/>
              </a:tblGrid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Territory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District Manager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Pediamil 1 PPG%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 vs Company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EGYPT 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</a:rPr>
                        <a:t>Company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+46.9%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NATIONAL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Alx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Ahmed Hassan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+91.4%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Beshoy Youhanna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+61.8%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Cairo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NOHER ADEL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+56.7%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Mohamed Yousef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+46.0%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KFR EL.SHK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Karim Shehab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+43.6%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Guiza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Youstina Farag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+39.4%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UE North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+38.6%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Shimaa Tarek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+35.6%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Behera &amp; Dakahlia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Ahmed Mohamed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+27.9%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PEDIAMIL 2 PPG% GROWTH RANKING (COMPANY AT TOP)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Pediamil 2 National Benchmark: +68.5% | Green = Above Company | Red = Below Company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65836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188720"/>
          <a:ext cx="4389120" cy="5120640"/>
        </p:xfrm>
        <a:graphic>
          <a:graphicData uri="http://schemas.openxmlformats.org/drawingml/2006/table">
            <a:tbl>
              <a:tblPr/>
              <a:tblGrid>
                <a:gridCol w="548640"/>
                <a:gridCol w="1097280"/>
                <a:gridCol w="1188720"/>
                <a:gridCol w="777240"/>
                <a:gridCol w="777240"/>
              </a:tblGrid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Territory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District Manager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Pediamil 2 PPG%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 vs Company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EGYPT 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</a:rPr>
                        <a:t>Company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+68.5%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NATIONAL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Beshoy Youhanna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+127.2%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Alx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Ahmed Hassan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+86.3%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Cairo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NOHER ADEL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+71.9%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UE North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+73.3%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Mohamed Yousef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+65.7%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Shimaa Tarek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+53.6%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Behera &amp; Dakahlia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Ahmed Mohamed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+55.7%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KFR EL.SHK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Karim Shehab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+55.0%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Guiza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Youstina Farag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+28.7%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PEDIA-START 1 PPG% GROWTH RANKING (COMPANY AT TOP)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Pedia-Start 1 National Benchmark: +9.6% | Green = Above Company | Red = Below Company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65836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188720"/>
          <a:ext cx="4389120" cy="5120640"/>
        </p:xfrm>
        <a:graphic>
          <a:graphicData uri="http://schemas.openxmlformats.org/drawingml/2006/table">
            <a:tbl>
              <a:tblPr/>
              <a:tblGrid>
                <a:gridCol w="548640"/>
                <a:gridCol w="1097280"/>
                <a:gridCol w="1188720"/>
                <a:gridCol w="777240"/>
                <a:gridCol w="777240"/>
              </a:tblGrid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Territory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District Manager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Pedia-Start 1 PPG%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 vs Company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EGYPT 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</a:rPr>
                        <a:t>Company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+9.6%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NATIONAL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UE North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+43.9%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Guiza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Youstina Farag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+31.7%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Cairo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NOHER ADEL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+32.5%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Beshoy Youhanna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+7.9%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KFR EL.SHK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Karim Shehab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+3.2%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Shimaa Tarek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-2.9%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Mohamed Yousef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-4.1%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Alx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Ahmed Hassan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-7.9%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Behera &amp; Dakahlia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Ahmed Mohamed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+3.0%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PEDIA-START 2 PPG% GROWTH RANKING (COMPANY AT TOP)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Pedia-Start 2 National Benchmark: +37.6% | Green = Above Company | Red = Below Company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65836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188720"/>
          <a:ext cx="4389120" cy="5120640"/>
        </p:xfrm>
        <a:graphic>
          <a:graphicData uri="http://schemas.openxmlformats.org/drawingml/2006/table">
            <a:tbl>
              <a:tblPr/>
              <a:tblGrid>
                <a:gridCol w="548640"/>
                <a:gridCol w="1097280"/>
                <a:gridCol w="1188720"/>
                <a:gridCol w="777240"/>
                <a:gridCol w="777240"/>
              </a:tblGrid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Territory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District Manager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Pedia-Start 2 PPG%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 vs Company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EGYPT 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</a:rPr>
                        <a:t>Company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+37.6%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NATIONAL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Mohamed Yousef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+67.4%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UE North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+67.0%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Guiza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Youstina Farag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+55.7%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Beshoy Youhanna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+34.1%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Behera &amp; Dakahlia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Ahmed Mohamed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+29.4%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Shimaa Tarek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+28.2%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Alx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Ahmed Hassan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+10.6%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KFR EL.SHK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Karim Shehab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+14.9%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Cairo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NOHER ADEL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+5.1%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PERFORMANCE QUADRANT MATRIX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Intercept at Company PPG (+39.5%) | Vertical Intercept at 0.00% | Selected ADM Highlighted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11247120" cy="132588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1D95"/>
                </a:solidFill>
              </a:rPr>
              <a:t>🎯 SELECTED ADM STRATEGIC DIAGNOSTIC: BESHOY YOUHANNA (UPPER EGYPT II) — QUADRANT A: STAR 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0764"/>
                </a:solidFill>
              </a:rPr>
              <a:t>• Performance Coordinates: X (Contribution Diff vs GEO) = +0.63% | Y (Total PPG Growth) = +57.71% (vs Company +39.5%)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0764"/>
                </a:solidFill>
              </a:rPr>
              <a:t>• Portfolio Share: Delivers 16.24% of Egypt Total Sales (210,911 cans YTD). Exceeds geographic potential and leads the nation in volume.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0764"/>
                </a:solidFill>
              </a:rPr>
              <a:t>• Strategic Directives: Protect market dominance against aggressive competitor rep detailing, secure NICU hospital listings for Pedia-Start &amp; LBW, and drive multi-can specialty bundling in community pharmacies.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2606040"/>
            <a:ext cx="5394960" cy="1783080"/>
          </a:xfrm>
          <a:prstGeom prst="roundRect">
            <a:avLst/>
          </a:prstGeom>
          <a:solidFill>
            <a:srgbClr val="E8F8F0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697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5724"/>
                </a:solidFill>
              </a:rPr>
              <a:t>QUADRANT A: COMPANY STARS 🌟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55724"/>
                </a:solidFill>
              </a:rPr>
              <a:t>(High Growth &gt; +39.5% PPG &amp; Positive Contr. Diff &gt; 0%)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315468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5724"/>
                </a:solidFill>
              </a:rPr>
              <a:t>• Upper Egypt II (Beshoy Youhanna): +57.7% PPG, +0.63% Diff, 210.9k units [HIGHLIGHTED]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5724"/>
                </a:solidFill>
              </a:rPr>
              <a:t>• Delta II (Mohamed Yousef): +46.0% PPG, +2.12% Diff, 186.9k units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5724"/>
                </a:solidFill>
              </a:rPr>
              <a:t>Strategic Action: Maintain national volume engine, protect prescription share in clinics.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5486400" cy="178308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974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</a:rPr>
              <a:t>QUADRANT B: HIGH-GROWTH CHALLENGERS 🚀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</a:rPr>
              <a:t>(High Growth &gt; +39.5% PPG &amp; Negative Contr. Diff &lt; 0%)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15468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5276"/>
                </a:solidFill>
              </a:rPr>
              <a:t>• Cairo (Noher Adel): +46.4% PPG, -7.36% Diff, 94.2k units (Major turnaround!)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5276"/>
                </a:solidFill>
              </a:rPr>
              <a:t>• Upper Egypt I (UE North): +46.2% PPG, -0.99% Diff, 169.4k units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5276"/>
                </a:solidFill>
              </a:rPr>
              <a:t>• Alx (Ahmed Hassan): +40.1% PPG, -3.00% Diff, 92.2k units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5276"/>
                </a:solidFill>
              </a:rPr>
              <a:t>Strategic Action: Closing the geographic share gap rapidly. Expand key pharmacy accounts.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5486400" cy="1783080"/>
          </a:xfrm>
          <a:prstGeom prst="roundRect">
            <a:avLst/>
          </a:prstGeom>
          <a:solidFill>
            <a:srgbClr val="FCECEE"/>
          </a:solidFill>
          <a:ln w="25400">
            <a:solidFill>
              <a:srgbClr val="DC3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6177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1C24"/>
                </a:solidFill>
              </a:rPr>
              <a:t>QUADRANT D: LOWEST PERFORMERS / CRITICAL ATTENTION ⚠️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21C24"/>
                </a:solidFill>
              </a:rPr>
              <a:t>(Low Growth &lt; +39.5% PPG &amp; Negative Contr. Diff &lt; 0%)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507492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1C24"/>
                </a:solidFill>
              </a:rPr>
              <a:t>• Guiza (Youstina Farag): +32.8% PPG, -5.36% Diff, 118.9k units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21C24"/>
                </a:solidFill>
              </a:rPr>
              <a:t>Strategic Action: High potential territory (14.5% GEO) lagging behind national pace. Re-evaluate medical rep detailing frequency and key pharmacy availability.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17920" y="4526280"/>
            <a:ext cx="5394960" cy="178308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617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6608"/>
                </a:solidFill>
              </a:rPr>
              <a:t>QUADRANT C: VOLUME PILLARS &amp; SHARE KEEPERS 🛡️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D6608"/>
                </a:solidFill>
              </a:rPr>
              <a:t>(Moderate Growth &lt; +39.5% PPG &amp; Positive Contr. Diff &gt; 0%)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507492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6608"/>
                </a:solidFill>
              </a:rPr>
              <a:t>• KFR EL.SHK (Karim Shehab): +29.9% PPG, +6.65% Diff, 109.2k units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6608"/>
                </a:solidFill>
              </a:rPr>
              <a:t>• DELTA I (Shimaa Tarek): +28.9% PPG, +6.29% Diff, 176.7k units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6608"/>
                </a:solidFill>
              </a:rPr>
              <a:t>• Behera &amp; Dakahlia (Ahmed Sakr): +25.0% PPG, +1.02% Diff, 139.9k units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6608"/>
                </a:solidFill>
              </a:rPr>
              <a:t>Strategic Action: Strong contribution defenders. Drive specialty formulas to lift growth above +39.5%.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REP / ADM QUARTERLY VELOCITY: Q3 2026 vs H1 2026 BASELINE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Run-Rate Acceleration: National Monthly Average grew from 138,315 to 156,126 cans/mo (+12.9%)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15568"/>
            <a:ext cx="2697480" cy="8686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B0C4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887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H1 2026 BASELINE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65D"/>
                </a:solidFill>
              </a:rPr>
              <a:t>138,315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National Monthly Avg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10128" y="1115568"/>
            <a:ext cx="2697480" cy="868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1887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Q3 2026 RUN-RATE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01568" y="1371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</a:rPr>
              <a:t>156,126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1568" y="16916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+12.9% (+17,811 cans/mo)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63056" y="1115568"/>
            <a:ext cx="2697480" cy="868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1887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TOP ACCELERATOR REP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54496" y="1371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Cairo (+58.7%)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54496" y="16916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Noher Adel: 8,758 → 13,898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015984" y="1115568"/>
            <a:ext cx="2697480" cy="86868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7424" y="11887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NATIONAL VOLUME LEADER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07424" y="1371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1B6"/>
                </a:solidFill>
              </a:rPr>
              <a:t>UE II (25,694/mo)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07424" y="16916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Beshoy Youhanna (+15.2%)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6675120" cy="4389120"/>
        </p:xfrm>
        <a:graphic>
          <a:graphicData uri="http://schemas.openxmlformats.org/drawingml/2006/table">
            <a:tbl>
              <a:tblPr/>
              <a:tblGrid>
                <a:gridCol w="457200"/>
                <a:gridCol w="1097280"/>
                <a:gridCol w="1097280"/>
                <a:gridCol w="731520"/>
                <a:gridCol w="731520"/>
                <a:gridCol w="731520"/>
                <a:gridCol w="731520"/>
                <a:gridCol w="1097280"/>
              </a:tblGrid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Territory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Medical Rep / ADM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H1 MoAvg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Q3 MoAvg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Diff / Mo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Velocity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Performance Tier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EGYPT 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</a:rPr>
                        <a:t>National Rep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138,315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156,126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+17,811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</a:rPr>
                        <a:t>+12.9%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NATIONAL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Cairo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NOHER ADEL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8,758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13,898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8A745"/>
                          </a:solidFill>
                        </a:rPr>
                        <a:t>+5,140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+58.7%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Tier 1: Accelerator 🚀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KFR EL.SHK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Karim Shehab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10,461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15,472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8A745"/>
                          </a:solidFill>
                        </a:rPr>
                        <a:t>+5,011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+47.9%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Tier 1: Accelerator 🚀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Upper Egypt 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UE North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16,459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23,564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8A745"/>
                          </a:solidFill>
                        </a:rPr>
                        <a:t>+7,105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+43.2%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Tier 1: Accelerator 🚀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Behera &amp; Dakahlia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Ahmed Mohamed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14,302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18,041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8A745"/>
                          </a:solidFill>
                        </a:rPr>
                        <a:t>+3,739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+26.1%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Tier 2: Compounder 📈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Upper Egypt II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Beshoy Youhanna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22,305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25,694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8A745"/>
                          </a:solidFill>
                        </a:rPr>
                        <a:t>+3,389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+15.2%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Tier 2: Compounder 📈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Guiza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Youstina Farag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12,895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13,858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8A745"/>
                          </a:solidFill>
                        </a:rPr>
                        <a:t>+963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45309"/>
                          </a:solidFill>
                        </a:rPr>
                        <a:t>+7.5%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Tier 3: Consolidator 🛡️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Alx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Ahmed Hassan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10,206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10,314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8A745"/>
                          </a:solidFill>
                        </a:rPr>
                        <a:t>+108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45309"/>
                          </a:solidFill>
                        </a:rPr>
                        <a:t>+1.1%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Tier 3: Consolidator 🛡️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DELTA 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Shimaa Tarek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20,146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18,614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C3545"/>
                          </a:solidFill>
                        </a:rPr>
                        <a:t>-1,532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-7.6%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Tier 4: Contraction ⚠️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Delta II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Mohamed Yousef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22,783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16,671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C3545"/>
                          </a:solidFill>
                        </a:rPr>
                        <a:t>-6,112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-26.8%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Tier 4: Contraction ⚠️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7315200" y="2103120"/>
            <a:ext cx="4389120" cy="1024128"/>
          </a:xfrm>
          <a:prstGeom prst="roundRect">
            <a:avLst/>
          </a:prstGeom>
          <a:solidFill>
            <a:srgbClr val="D4EDDA"/>
          </a:solidFill>
          <a:ln w="19050">
            <a:solidFill>
              <a:srgbClr val="28A74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52360" y="217627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724"/>
                </a:solidFill>
              </a:rPr>
              <a:t>TIER 1: HIGH ACCELERATORS (+40% to +60%) 🚀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452360" y="24231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5724"/>
                </a:solidFill>
              </a:rPr>
              <a:t>• Cairo (Noher Adel): 8,758 → 13,898 (+58.7%) | Pediamil AC (+225%)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5724"/>
                </a:solidFill>
              </a:rPr>
              <a:t>• KFR EL.SHK (Karim Shehab): 10,461 → 15,472 (+47.9%)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5724"/>
                </a:solidFill>
              </a:rPr>
              <a:t>• Upper Egypt I (UE North): 16,459 → 23,564 (+43.2%)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5724"/>
                </a:solidFill>
              </a:rPr>
              <a:t>Strategic Action: Capitalize on doctor adoption; expand clinic quotas.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7315200" y="3200400"/>
            <a:ext cx="4389120" cy="1024128"/>
          </a:xfrm>
          <a:prstGeom prst="roundRect">
            <a:avLst/>
          </a:prstGeom>
          <a:solidFill>
            <a:srgbClr val="D1ECF1"/>
          </a:solidFill>
          <a:ln w="19050">
            <a:solidFill>
              <a:srgbClr val="17A2B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52360" y="32735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5460"/>
                </a:solidFill>
              </a:rPr>
              <a:t>TIER 2: SCALE COMPOUNDERS (+15% to +30%) 📈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452360" y="35204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5460"/>
                </a:solidFill>
              </a:rPr>
              <a:t>• Behera &amp; Dakahlia (Ahmed Sakr): 14,302 → 18,041 (+26.1%)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C5460"/>
                </a:solidFill>
              </a:rPr>
              <a:t>• Upper Egypt II (Beshoy Youhanna): 22,305 → 25,694 (+15.2%)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C5460"/>
                </a:solidFill>
              </a:rPr>
              <a:t>Strategic Action: Maintain mega-volume leadership, defend hospital listings.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7315200" y="4297680"/>
            <a:ext cx="4389120" cy="1024128"/>
          </a:xfrm>
          <a:prstGeom prst="roundRect">
            <a:avLst/>
          </a:prstGeom>
          <a:solidFill>
            <a:srgbClr val="FFF3CD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52360" y="437083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6404"/>
                </a:solidFill>
              </a:rPr>
              <a:t>TIER 3: STEADY CONSOLIDATORS (0% to +10%) 🛡️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452360" y="46177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6404"/>
                </a:solidFill>
              </a:rPr>
              <a:t>• Guiza (Youstina Farag): 12,895 → 13,858 (+7.5%)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56404"/>
                </a:solidFill>
              </a:rPr>
              <a:t>• Alexandria (Ahmed Hassan): 10,206 → 10,314 (+1.1%)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56404"/>
                </a:solidFill>
              </a:rPr>
              <a:t>Strategic Action: Stable run-rates preserved; activate P1 &amp; PS2 detailing.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7315200" y="5394960"/>
            <a:ext cx="4389120" cy="1024128"/>
          </a:xfrm>
          <a:prstGeom prst="roundRect">
            <a:avLst/>
          </a:prstGeom>
          <a:solidFill>
            <a:srgbClr val="F8D7DA"/>
          </a:solidFill>
          <a:ln w="19050">
            <a:solidFill>
              <a:srgbClr val="DC354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52360" y="54681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21C24"/>
                </a:solidFill>
              </a:rPr>
              <a:t>TIER 4: CONTRACTION WATCHLIST (NEGATIVE Q3) ⚠️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452360" y="57150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1C24"/>
                </a:solidFill>
              </a:rPr>
              <a:t>• DELTA I (Shimaa Tarek): 20,146 → 18,614 (-7.6%)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21C24"/>
                </a:solidFill>
              </a:rPr>
              <a:t>• Delta II (Mohamed Yousef): 22,783 → 16,671 (-26.8%)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21C24"/>
                </a:solidFill>
              </a:rPr>
              <a:t>Strategic Action: High H1 baseline dip; audit stock availability &amp; rep calls.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2026-10-15T12:45:47Z</dcterms:created>
  <dcterms:modified xsi:type="dcterms:W3CDTF">2026-10-15T12:45:47Z</dcterms:modified>
</cp:coreProperties>
</file>