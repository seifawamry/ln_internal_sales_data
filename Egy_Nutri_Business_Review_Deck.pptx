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BDF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8888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Contribution % 2025</c:v>
                  </c:pt>
                  <c:pt idx="1">
                    <c:v>YTD Contribution % 2026</c:v>
                  </c:pt>
                  <c:pt idx="2">
                    <c:v>GEO Share % (2025 Potential)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14.37</c:v>
                </c:pt>
                <c:pt idx="1">
                  <c:v>16.24</c:v>
                </c:pt>
                <c:pt idx="2">
                  <c:v>15.61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2182</c:v>
                </c:pt>
                <c:pt idx="1">
                  <c:v>3873</c:v>
                </c:pt>
                <c:pt idx="2">
                  <c:v>4469</c:v>
                </c:pt>
                <c:pt idx="3">
                  <c:v>7890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4A90E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1627</c:v>
                </c:pt>
                <c:pt idx="1">
                  <c:v>3588</c:v>
                </c:pt>
                <c:pt idx="2">
                  <c:v>1967</c:v>
                </c:pt>
                <c:pt idx="3">
                  <c:v>4877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D4AF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1774</c:v>
                </c:pt>
                <c:pt idx="1">
                  <c:v>3019</c:v>
                </c:pt>
                <c:pt idx="2">
                  <c:v>2767</c:v>
                </c:pt>
                <c:pt idx="3">
                  <c:v>4551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1517</c:v>
                </c:pt>
                <c:pt idx="2">
                  <c:v>834</c:v>
                </c:pt>
                <c:pt idx="3">
                  <c:v>1017</c:v>
                </c:pt>
                <c:pt idx="4">
                  <c:v>435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5EEA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</c:v>
                </c:pt>
                <c:pt idx="1">
                  <c:v>732</c:v>
                </c:pt>
                <c:pt idx="2">
                  <c:v>706</c:v>
                </c:pt>
                <c:pt idx="3">
                  <c:v>520</c:v>
                </c:pt>
                <c:pt idx="4">
                  <c:v>357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75</c:v>
                </c:pt>
                <c:pt idx="1">
                  <c:v>1119</c:v>
                </c:pt>
                <c:pt idx="2">
                  <c:v>568</c:v>
                </c:pt>
                <c:pt idx="3">
                  <c:v>879</c:v>
                </c:pt>
                <c:pt idx="4">
                  <c:v>407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MoAvg (Left)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4877</c:v>
                </c:pt>
                <c:pt idx="1">
                  <c:v>1967</c:v>
                </c:pt>
                <c:pt idx="2">
                  <c:v>3588</c:v>
                </c:pt>
                <c:pt idx="3">
                  <c:v>1627</c:v>
                </c:pt>
                <c:pt idx="4">
                  <c:v>2410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MoAvg (Left)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7890</c:v>
                </c:pt>
                <c:pt idx="1">
                  <c:v>4469</c:v>
                </c:pt>
                <c:pt idx="2">
                  <c:v>3873</c:v>
                </c:pt>
                <c:pt idx="3">
                  <c:v>2182</c:v>
                </c:pt>
                <c:pt idx="4">
                  <c:v>4413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Selected ADM PPG% (Right)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61.76</c:v>
                </c:pt>
                <c:pt idx="1">
                  <c:v>127.23</c:v>
                </c:pt>
                <c:pt idx="2">
                  <c:v>7.93</c:v>
                </c:pt>
                <c:pt idx="3">
                  <c:v>34.1</c:v>
                </c:pt>
                <c:pt idx="4">
                  <c:v>83.25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Company Benchmark PPG% (Right)</c:v>
                </c:pt>
              </c:strCache>
            </c:strRef>
          </c:tx>
          <c:spPr>
            <a:solidFill>
              <a:srgbClr val="F59E0B"/>
            </a:solidFill>
            <a:ln w="254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46.86</c:v>
                </c:pt>
                <c:pt idx="1">
                  <c:v>68.54</c:v>
                </c:pt>
                <c:pt idx="2">
                  <c:v>9.6</c:v>
                </c:pt>
                <c:pt idx="3">
                  <c:v>37.58</c:v>
                </c:pt>
                <c:pt idx="4">
                  <c:v>43.5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Monthly Sales Volume (Cans)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Growth Rate (PPG%)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Sales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Behera &amp; Dakahlia (Ahmed)</c:v>
                  </c:pt>
                  <c:pt idx="1">
                    <c:v>DELTA I (Shimaa)</c:v>
                  </c:pt>
                  <c:pt idx="2">
                    <c:v>KFR EL.SHK (Karim)</c:v>
                  </c:pt>
                  <c:pt idx="3">
                    <c:v>Guiza (Youstina)</c:v>
                  </c:pt>
                  <c:pt idx="4">
                    <c:v>Alx (Ahmed)</c:v>
                  </c:pt>
                  <c:pt idx="5">
                    <c:v>Delta II (Mohamed)</c:v>
                  </c:pt>
                  <c:pt idx="6">
                    <c:v>Upper Egypt I (UE)</c:v>
                  </c:pt>
                  <c:pt idx="7">
                    <c:v>Cairo (NOHER)</c:v>
                  </c:pt>
                  <c:pt idx="8">
                    <c:v>Upper Egypt II (Beshoy)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25</c:v>
                </c:pt>
                <c:pt idx="1">
                  <c:v>28.9</c:v>
                </c:pt>
                <c:pt idx="2">
                  <c:v>29.9</c:v>
                </c:pt>
                <c:pt idx="3">
                  <c:v>32.8</c:v>
                </c:pt>
                <c:pt idx="4">
                  <c:v>40.1</c:v>
                </c:pt>
                <c:pt idx="5">
                  <c:v>46</c:v>
                </c:pt>
                <c:pt idx="6">
                  <c:v>46.2</c:v>
                </c:pt>
                <c:pt idx="7">
                  <c:v>46.4</c:v>
                </c:pt>
                <c:pt idx="8">
                  <c:v>57.7</c:v>
                </c:pt>
                <c:pt idx="9">
                  <c:v>39.5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Behera &amp; Dakahlia (Ahmed)</c:v>
                  </c:pt>
                  <c:pt idx="1">
                    <c:v>DELTA I (Shimaa)</c:v>
                  </c:pt>
                  <c:pt idx="2">
                    <c:v>Upper Egypt I (UE)</c:v>
                  </c:pt>
                  <c:pt idx="3">
                    <c:v>Guiza (Youstina)</c:v>
                  </c:pt>
                  <c:pt idx="4">
                    <c:v>KFR EL.SHK (Karim)</c:v>
                  </c:pt>
                  <c:pt idx="5">
                    <c:v>Delta II (Mohamed)</c:v>
                  </c:pt>
                  <c:pt idx="6">
                    <c:v>Cairo (NOHER)</c:v>
                  </c:pt>
                  <c:pt idx="7">
                    <c:v>Upper Egypt II (Beshoy)</c:v>
                  </c:pt>
                  <c:pt idx="8">
                    <c:v>Alx (Ahmed)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27.9</c:v>
                </c:pt>
                <c:pt idx="1">
                  <c:v>35.6</c:v>
                </c:pt>
                <c:pt idx="2">
                  <c:v>38.6</c:v>
                </c:pt>
                <c:pt idx="3">
                  <c:v>39.4</c:v>
                </c:pt>
                <c:pt idx="4">
                  <c:v>43.6</c:v>
                </c:pt>
                <c:pt idx="5">
                  <c:v>46</c:v>
                </c:pt>
                <c:pt idx="6">
                  <c:v>56.7</c:v>
                </c:pt>
                <c:pt idx="7">
                  <c:v>61.8</c:v>
                </c:pt>
                <c:pt idx="8">
                  <c:v>91.4</c:v>
                </c:pt>
                <c:pt idx="9">
                  <c:v>46.9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Guiza (Youstina)</c:v>
                  </c:pt>
                  <c:pt idx="1">
                    <c:v>KFR EL.SHK (Karim)</c:v>
                  </c:pt>
                  <c:pt idx="2">
                    <c:v>Behera &amp; Dakahlia (Ahmed)</c:v>
                  </c:pt>
                  <c:pt idx="3">
                    <c:v>DELTA I (Shimaa)</c:v>
                  </c:pt>
                  <c:pt idx="4">
                    <c:v>Delta II (Mohamed)</c:v>
                  </c:pt>
                  <c:pt idx="5">
                    <c:v>Upper Egypt I (UE)</c:v>
                  </c:pt>
                  <c:pt idx="6">
                    <c:v>Cairo (NOHER)</c:v>
                  </c:pt>
                  <c:pt idx="7">
                    <c:v>Alx (Ahmed)</c:v>
                  </c:pt>
                  <c:pt idx="8">
                    <c:v>Upper Egypt II (Beshoy)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28.7</c:v>
                </c:pt>
                <c:pt idx="1">
                  <c:v>55</c:v>
                </c:pt>
                <c:pt idx="2">
                  <c:v>55.7</c:v>
                </c:pt>
                <c:pt idx="3">
                  <c:v>53.6</c:v>
                </c:pt>
                <c:pt idx="4">
                  <c:v>65.7</c:v>
                </c:pt>
                <c:pt idx="5">
                  <c:v>73.3</c:v>
                </c:pt>
                <c:pt idx="6">
                  <c:v>71.9</c:v>
                </c:pt>
                <c:pt idx="7">
                  <c:v>86.3</c:v>
                </c:pt>
                <c:pt idx="8">
                  <c:v>127.2</c:v>
                </c:pt>
                <c:pt idx="9">
                  <c:v>68.5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Behera &amp; Dakahlia (Ahmed)</c:v>
                  </c:pt>
                  <c:pt idx="1">
                    <c:v>Alx (Ahmed)</c:v>
                  </c:pt>
                  <c:pt idx="2">
                    <c:v>Delta II (Mohamed)</c:v>
                  </c:pt>
                  <c:pt idx="3">
                    <c:v>DELTA I (Shimaa)</c:v>
                  </c:pt>
                  <c:pt idx="4">
                    <c:v>KFR EL.SHK (Karim)</c:v>
                  </c:pt>
                  <c:pt idx="5">
                    <c:v>Upper Egypt II (Beshoy)</c:v>
                  </c:pt>
                  <c:pt idx="6">
                    <c:v>Cairo (NOHER)</c:v>
                  </c:pt>
                  <c:pt idx="7">
                    <c:v>Guiza (Youstina)</c:v>
                  </c:pt>
                  <c:pt idx="8">
                    <c:v>Upper Egypt I (UE)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</c:v>
                </c:pt>
                <c:pt idx="1">
                  <c:v>-7.9</c:v>
                </c:pt>
                <c:pt idx="2">
                  <c:v>-4.1</c:v>
                </c:pt>
                <c:pt idx="3">
                  <c:v>-2.9</c:v>
                </c:pt>
                <c:pt idx="4">
                  <c:v>3.2</c:v>
                </c:pt>
                <c:pt idx="5">
                  <c:v>7.9</c:v>
                </c:pt>
                <c:pt idx="6">
                  <c:v>32.5</c:v>
                </c:pt>
                <c:pt idx="7">
                  <c:v>31.7</c:v>
                </c:pt>
                <c:pt idx="8">
                  <c:v>43.9</c:v>
                </c:pt>
                <c:pt idx="9">
                  <c:v>9.6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Cairo (NOHER)</c:v>
                  </c:pt>
                  <c:pt idx="1">
                    <c:v>KFR EL.SHK (Karim)</c:v>
                  </c:pt>
                  <c:pt idx="2">
                    <c:v>Alx (Ahmed)</c:v>
                  </c:pt>
                  <c:pt idx="3">
                    <c:v>DELTA I (Shimaa)</c:v>
                  </c:pt>
                  <c:pt idx="4">
                    <c:v>Behera &amp; Dakahlia (Ahmed)</c:v>
                  </c:pt>
                  <c:pt idx="5">
                    <c:v>Upper Egypt II (Beshoy)</c:v>
                  </c:pt>
                  <c:pt idx="6">
                    <c:v>Guiza (Youstina)</c:v>
                  </c:pt>
                  <c:pt idx="7">
                    <c:v>Upper Egypt I (UE)</c:v>
                  </c:pt>
                  <c:pt idx="8">
                    <c:v>Delta II (Mohamed)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5.1</c:v>
                </c:pt>
                <c:pt idx="1">
                  <c:v>14.9</c:v>
                </c:pt>
                <c:pt idx="2">
                  <c:v>10.6</c:v>
                </c:pt>
                <c:pt idx="3">
                  <c:v>28.2</c:v>
                </c:pt>
                <c:pt idx="4">
                  <c:v>29.4</c:v>
                </c:pt>
                <c:pt idx="5">
                  <c:v>34.1</c:v>
                </c:pt>
                <c:pt idx="6">
                  <c:v>55.7</c:v>
                </c:pt>
                <c:pt idx="7">
                  <c:v>67</c:v>
                </c:pt>
                <c:pt idx="8">
                  <c:v>67.4</c:v>
                </c:pt>
                <c:pt idx="9">
                  <c:v>37.6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TERRITORIAL CONTRIBUTION &amp; GEO SHARE (SELECTED ADM)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3-Bar Share Analysis for Selected ADM (Beshoy Youhanna) with values plotted directly on the bars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029200"/>
            <a:ext cx="6583680" cy="14630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516636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SELECTED ADM SHARE DIAGNOSTIC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5440680"/>
            <a:ext cx="6217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2026 Current Contribution: 16.24% (National volume leader, 210,911 cans YTD)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GEO Market Potential: 15.61% | Variance vs. Potential: +0.63% (Exceeding territory potential)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Year-over-Year Gain: +1.87% expansion vs Full-Year 2025 contribution (14.37%)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303520"/>
        </p:xfrm>
        <a:graphic>
          <a:graphicData uri="http://schemas.openxmlformats.org/drawingml/2006/table">
            <a:tbl>
              <a:tblPr/>
              <a:tblGrid>
                <a:gridCol w="1280160"/>
                <a:gridCol w="731520"/>
                <a:gridCol w="777240"/>
                <a:gridCol w="777240"/>
                <a:gridCol w="82296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GEO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Diff (Geo)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-3.00%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+1.02%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6.9%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-7.36%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-5.36%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13.6%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+6.29%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13.8%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+2.12%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13.1%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-0.99%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👉 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15.6%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+0.63%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8.4%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+6.65%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INFANT NUTRITION: MONTHLY SALES AVERAGES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values: Beshoy Youhanna (Upper Egypt II) vs 2025 vs Line Avg/ADM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292608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Core Product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7,890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+61.8%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4,551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4,469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+127.2%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2,767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3,873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+7.9%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3,019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2,182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+34.1%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1,774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572000"/>
            <a:ext cx="4389120" cy="16459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709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KEY BENCHMARK INSIGHTS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4983480"/>
            <a:ext cx="4023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1 reached 7,890 cans/mo (+61.8% PPG), dominating the line average (4,551 cans).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2 achieved 4,469 cans/mo (+127.2% PPG), doubling 2025 run-rates.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Pedia-Start 1 is 3,873 cans/mo, exceeding national line average (3,142 cans).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Pedia-Start 2 is 2,182 cans/mo, up +34.1% over 2025 baseline.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SPECIALTY NUTRITION: MONTHLY SALES AVERAGES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values: Beshoy Youhanna vs 2025 vs Line Avg/ADM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3200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Specialty SKU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LF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+22.0%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407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1,017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+95.8%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879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+18.1%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568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AC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1,517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+107.2%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1,119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+1.0%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754880"/>
            <a:ext cx="4389120" cy="146304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8463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SPECIALTY SEGMENT STRATEGY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512064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AC (1,517 cans/mo) surged +107.2% PPG, establishing clear pediatric leadership.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HA (1,017 cans/mo) is up +95.7% PPG, outpacing national quota.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Specialty portfolio provides superior margins and clinical prescription stickiness.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DEEP DIVE: SELECTED ADM vs COMPANY BENCHMARK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Combo Chart: Volume (Bars, Primary Axis) &amp; Growth Rate % (Lines, Secondary Axis)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315200" y="1188720"/>
            <a:ext cx="4389120" cy="1554480"/>
          </a:xfrm>
          <a:prstGeom prst="roundRect">
            <a:avLst/>
          </a:prstGeom>
          <a:solidFill>
            <a:srgbClr val="D4EDDA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0" y="13258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5724"/>
                </a:solidFill>
              </a:rPr>
              <a:t>SELECTED ADM: BESHOY YOUHANNA (UPPER EGYPT II)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16459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🟢 TOTAL GROWTH: +57.71% PPG (vs Company: +39.54%)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STATUS: ABOVE COMPANY BENCHMARK (+18.2% AHEAD)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C3E50"/>
                </a:solidFill>
              </a:rPr>
              <a:t>Interactive Feature: In the web review dashboard, selecting any ADM from the header updates this dual-axis combo chart instantly.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7315200" y="2834640"/>
            <a:ext cx="4389120" cy="1554480"/>
          </a:xfrm>
          <a:prstGeom prst="roundRect">
            <a:avLst/>
          </a:prstGeom>
          <a:solidFill>
            <a:srgbClr val="F8D7DA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0" y="29260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BELOW-BENCHMARK RULE (DYNAMIC RED SHAPE)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98080" y="324612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🔻 AUTOMATIC RED HIGHLIGHT WHEN SELECTED ADM &lt; COMPANY: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When selecting an underperforming territory (e.g. Behera +25.0%, Delta I +28.9%, Kfr El.Shk +29.9%, Guiza +32.8%), the card switches to RED with gap metrics.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173736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645920"/>
                <a:gridCol w="2011680"/>
                <a:gridCol w="1828800"/>
                <a:gridCol w="2286000"/>
              </a:tblGrid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Product Category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2025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2026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Selected ADM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Company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Growth Variance vs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7,890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+61.8%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+46.9%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+14.9%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4,469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+127.2%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+68.5%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+58.7%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3,873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-1.7%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2,182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+34.1%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+37.6%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-3.5%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Specialties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2,410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4,413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+83.3%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+43.5%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+39.8%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PPG% GROWTH RANKING (COMPANY AT TOP)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Benchmark: +39.5% | Green = Above Company | Red = Below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Total Sales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+39.5%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+57.7%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+46.4%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+46.0%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+32.8%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+28.9%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+25.0%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PPG% GROWTH RANKING (COMPANY AT TOP)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National Benchmark: +46.9% | Green = Above Company | Red = Below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+46.9%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+91.4%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+61.8%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+56.7%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+46.0%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+43.6%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+39.4%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+38.6%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+35.6%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PPG% GROWTH RANKING (COMPANY AT TOP)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National Benchmark: +68.5% | Green = Above Company | Red = Below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+68.5%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+127.2%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+71.9%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+73.3%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+65.7%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+53.6%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+55.7%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+55.0%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+28.7%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PPG% GROWTH RANKING (COMPANY AT TOP)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National Benchmark: +9.6% | Green = Above Company | Red = Below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+9.6%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+43.9%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+31.7%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+32.5%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-4.1%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PPG% GROWTH RANKING (COMPANY AT TOP)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National Benchmark: +37.6% | Green = Above Company | Red = Below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+37.6%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+67.0%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+55.7%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+34.1%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+28.2%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+10.6%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+14.9%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PERFORMANCE QUADRANT MATRIX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Intercept at Company PPG (+39.5%) | Vertical Intercept at 0.00% | Selected ADM Highlighted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11247120" cy="13258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1D95"/>
                </a:solidFill>
              </a:rPr>
              <a:t>🎯 SELECTED ADM STRATEGIC DIAGNOSTIC: BESHOY YOUHANNA (UPPER EGYPT II) — QUADRANT A: STAR 🌟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1600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Performance Coordinates: X (Contribution Diff vs GEO) = +0.63% | Y (Total PPG Growth) = +57.71% (vs Company +39.5%)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Portfolio Share: Delivers 16.24% of Egypt Total Sales (210,911 cans YTD). Exceeds geographic potential and leads the nation in volume.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Strategic Directives: Protect market dominance against aggressive competitor rep detailing, secure NICU hospital listings for Pedia-Start &amp; LBW, and drive multi-can specialty bundling in community pharmacies.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7920" y="2606040"/>
            <a:ext cx="5394960" cy="1783080"/>
          </a:xfrm>
          <a:prstGeom prst="roundRect">
            <a:avLst/>
          </a:prstGeom>
          <a:solidFill>
            <a:srgbClr val="E8F8F0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6974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QUADRANT A: COMPANY STARS 🌟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(High Growth &gt; +39.5% PPG &amp; Positive Contr. Diff &gt; 0%)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315468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Upper Egypt II (Beshoy Youhanna): +57.7% PPG, +0.63% Diff, 210.9k units [HIGHLIGHTED]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Delta II (Mohamed Yousef): +46.0% PPG, +2.12% Diff, 186.9k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Strategic Action: Maintain national volume engine, protect prescription share in clinics.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606040"/>
            <a:ext cx="5486400" cy="1783080"/>
          </a:xfrm>
          <a:prstGeom prst="roundRect">
            <a:avLst/>
          </a:prstGeom>
          <a:solidFill>
            <a:srgbClr val="EBF5FB"/>
          </a:solidFill>
          <a:ln w="25400">
            <a:solidFill>
              <a:srgbClr val="2980B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9748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QUADRANT B: HIGH-GROWTH CHALLENGERS 🚀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(High Growth &gt; +39.5% PPG &amp; Negative Contr. Diff &lt; 0%)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15468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• Cairo (Noher Adel): +46.4% PPG, -7.36% Diff, 94.2k units (Major turnaround!)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• Upper Egypt I (UE North): +46.2% PPG, -0.99% Diff, 169.4k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• Alx (Ahmed Hassan): +40.1% PPG, -3.00% Diff, 92.2k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Strategic Action: Closing the geographic share gap rapidly. Expand key pharmacy accounts.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4526280"/>
            <a:ext cx="5486400" cy="1783080"/>
          </a:xfrm>
          <a:prstGeom prst="roundRect">
            <a:avLst/>
          </a:prstGeom>
          <a:solidFill>
            <a:srgbClr val="FCECEE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6177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QUADRANT D: LOWEST PERFORMERS / CRITICAL ATTENTION ⚠️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(Low Growth &lt; +39.5% PPG &amp; Negative Contr. Diff &lt; 0%)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507492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• Guiza (Youstina Farag): +32.8% PPG, -5.36% Diff, 118.9k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Strategic Action: High potential territory (14.5% GEO) lagging behind national pace. Re-evaluate medical rep detailing frequency and key pharmacy availability.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394960" cy="1783080"/>
          </a:xfrm>
          <a:prstGeom prst="roundRect">
            <a:avLst/>
          </a:prstGeom>
          <a:solidFill>
            <a:srgbClr val="FEF9E7"/>
          </a:solidFill>
          <a:ln w="254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617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QUADRANT C: VOLUME PILLARS &amp; SHARE KEEPERS 🛡️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(Moderate Growth &lt; +39.5% PPG &amp; Positive Contr. Diff &gt; 0%)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507492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KFR EL.SHK (Karim Shehab): +29.9% PPG, +6.65% Diff, 109.2k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DELTA I (Shimaa Tarek): +28.9% PPG, +6.29% Diff, 176.7k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Behera &amp; Dakahlia (Ahmed Sakr): +25.0% PPG, +1.02% Diff, 139.9k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Strategic Action: Strong contribution defenders. Drive specialty formulas to lift growth above +39.5%.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3-HORIZON RUN-RATE VELOCITY: Q3 2026 vs H1 2026 BASELINE vs 2025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Velocity Trilogy: Tracking Medical Rep Momentum from 2025 Baseline through H1 2026 to Q3 2026 (+51.0% vs '25)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15568"/>
            <a:ext cx="269748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1887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2025 MO. BASELINE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" y="137160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</a:rPr>
              <a:t>103,385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169164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Full Year Baseline (Cans/Mo)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310128" y="1115568"/>
            <a:ext cx="2697480" cy="8686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0C4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01568" y="11887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H1 2026 BASELINE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401568" y="137160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65D"/>
                </a:solidFill>
              </a:rPr>
              <a:t>138,315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01568" y="169164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+33.8% over 2025 baseline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163056" y="1115568"/>
            <a:ext cx="2697480" cy="86868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54496" y="11887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Q3 2026 RUN-RATE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254496" y="137160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F46"/>
                </a:solidFill>
              </a:rPr>
              <a:t>156,126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54496" y="169164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+12.9% vs H1 | +51.0% vs '25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9015984" y="1115568"/>
            <a:ext cx="2697480" cy="868680"/>
          </a:xfrm>
          <a:prstGeom prst="roundRect">
            <a:avLst/>
          </a:prstGeom>
          <a:solidFill>
            <a:srgbClr val="FAF5FF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07424" y="11887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TOP ACCELERATOR REP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107424" y="137160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1B6"/>
                </a:solidFill>
              </a:rPr>
              <a:t>Cairo (+58.7% vs H1)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07424" y="169164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Noher Adel: +94.3% vs '25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6766560" cy="4389120"/>
        </p:xfrm>
        <a:graphic>
          <a:graphicData uri="http://schemas.openxmlformats.org/drawingml/2006/table">
            <a:tbl>
              <a:tblPr/>
              <a:tblGrid>
                <a:gridCol w="411480"/>
                <a:gridCol w="1005840"/>
                <a:gridCol w="1051560"/>
                <a:gridCol w="685800"/>
                <a:gridCol w="685800"/>
                <a:gridCol w="685800"/>
                <a:gridCol w="685800"/>
                <a:gridCol w="685800"/>
                <a:gridCol w="914400"/>
              </a:tblGrid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Medical Rep / 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H1 2026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Q3 2026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Q3 vs H1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Q3 vs '25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Velocity Tier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National Rep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103,385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138,315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5CF6"/>
                          </a:solidFill>
                        </a:rPr>
                        <a:t>156,126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A745"/>
                          </a:solidFill>
                        </a:rPr>
                        <a:t>+12.9%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A745"/>
                          </a:solidFill>
                        </a:rPr>
                        <a:t>+51.0%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7,152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8,758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13,898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+58.7%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+94.3%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1: Accelerator 🚀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9,337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10,461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15,472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+65.7%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1: Accelerator 🚀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12,877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16,459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23,564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+43.2%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+83.0%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1: Accelerator 🚀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12,441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14,302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18,041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+26.1%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</a:rPr>
                        <a:t>+45.0%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2: Compounder 📈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14,859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22,305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25,694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+15.2%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+72.9%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2: Compounder 📈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9,951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12,895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13,858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</a:rPr>
                        <a:t>+7.5%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</a:rPr>
                        <a:t>+39.3%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3: Consolidator 🛡️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7,309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10,206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10,314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</a:rPr>
                        <a:t>+1.1%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</a:rPr>
                        <a:t>+41.1%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3: Consolidator 🛡️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15,235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20,146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18,614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</a:rPr>
                        <a:t>+22.2%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4: Contraction ⚠️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14,224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22,783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16,671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-26.8%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</a:rPr>
                        <a:t>+17.2%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4: Contraction ⚠️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7406640" y="2103120"/>
            <a:ext cx="4297680" cy="1024128"/>
          </a:xfrm>
          <a:prstGeom prst="roundRect">
            <a:avLst/>
          </a:prstGeom>
          <a:solidFill>
            <a:srgbClr val="D4EDDA"/>
          </a:solidFill>
          <a:ln w="19050">
            <a:solidFill>
              <a:srgbClr val="28A74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543800" y="217627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5724"/>
                </a:solidFill>
              </a:rPr>
              <a:t>TIER 1: HIGH ACCELERATORS (+40% to +60%) 🚀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543800" y="24231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55724"/>
                </a:solidFill>
              </a:rPr>
              <a:t>• Cairo (Noher Adel): 7.2k ('25) → 8.8k (H1) → 13.9k/mo (Q3) (+58.7% vs H1 | +94.3% vs '25!)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55724"/>
                </a:solidFill>
              </a:rPr>
              <a:t>• KFR EL.SHK (Karim Shehab): 9.3k → 10.5k → 15.5k/mo (+47.9% vs H1 | +65.7%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55724"/>
                </a:solidFill>
              </a:rPr>
              <a:t>• Upper Egypt I (UE North): 12.9k → 16.5k → 23.6k/mo (+43.2% vs H1 | +83.0%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55724"/>
                </a:solidFill>
              </a:rPr>
              <a:t>Strategic Action: Capitalize on breakout doctor adoption; expand NICU &amp; clinic quotas.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406640" y="3200400"/>
            <a:ext cx="4297680" cy="1024128"/>
          </a:xfrm>
          <a:prstGeom prst="roundRect">
            <a:avLst/>
          </a:prstGeom>
          <a:solidFill>
            <a:srgbClr val="D1ECF1"/>
          </a:solidFill>
          <a:ln w="19050">
            <a:solidFill>
              <a:srgbClr val="17A2B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43800" y="327355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5460"/>
                </a:solidFill>
              </a:rPr>
              <a:t>TIER 2: SCALE COMPOUNDERS (+15% to +30%) 📈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543800" y="35204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C5460"/>
                </a:solidFill>
              </a:rPr>
              <a:t>• Upper Egypt II (Beshoy Youhanna): 14.9k → 22.3k → 25.7k/mo (+15.2% vs H1 | +72.9% vs '25!)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0C5460"/>
                </a:solidFill>
              </a:rPr>
              <a:t>• Behera &amp; Dakahlia (Ahmed Sakr): 12.4k → 14.3k → 18.0k/mo (+26.1% vs H1 | +45.0%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0C5460"/>
                </a:solidFill>
              </a:rPr>
              <a:t>Strategic Action: Maintain national volume engine, defend hospital contracts.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7406640" y="4297680"/>
            <a:ext cx="4297680" cy="1024128"/>
          </a:xfrm>
          <a:prstGeom prst="roundRect">
            <a:avLst/>
          </a:prstGeom>
          <a:solidFill>
            <a:srgbClr val="FFF3CD"/>
          </a:solidFill>
          <a:ln w="19050">
            <a:solidFill>
              <a:srgbClr val="FFC10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543800" y="437083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56404"/>
                </a:solidFill>
              </a:rPr>
              <a:t>TIER 3: STEADY CONSOLIDATORS (0% to +10%) 🛡️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543800" y="46177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6404"/>
                </a:solidFill>
              </a:rPr>
              <a:t>• Guiza (Youstina Farag): 10.0k → 12.9k → 13.9k/mo (+7.5% vs H1 | +39.3%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56404"/>
                </a:solidFill>
              </a:rPr>
              <a:t>• Alexandria (Ahmed Hassan): 7.3k → 10.2k → 10.3k/mo (+1.1% vs H1 | +41.1%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56404"/>
                </a:solidFill>
              </a:rPr>
              <a:t>Strategic Action: Stable run-rates preserved; activate P1 &amp; PS2 detailing.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7406640" y="5394960"/>
            <a:ext cx="4297680" cy="1024128"/>
          </a:xfrm>
          <a:prstGeom prst="roundRect">
            <a:avLst/>
          </a:prstGeom>
          <a:solidFill>
            <a:srgbClr val="F8D7DA"/>
          </a:solidFill>
          <a:ln w="19050">
            <a:solidFill>
              <a:srgbClr val="DC35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43800" y="546811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21C24"/>
                </a:solidFill>
              </a:rPr>
              <a:t>TIER 4: CONTRACTION WATCHLIST (NEGATIVE Q3) ⚠️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543800" y="571500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21C24"/>
                </a:solidFill>
              </a:rPr>
              <a:t>• DELTA I (Shimaa Tarek): 15.2k → 20.1k → 18.6k/mo (-7.6% vs H1, but +22.2%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721C24"/>
                </a:solidFill>
              </a:rPr>
              <a:t>• Delta II (Mohamed Yousef): 14.2k → 22.8k → 16.7k/mo (-26.8% vs H1, but +17.2%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721C24"/>
                </a:solidFill>
              </a:rPr>
              <a:t>Strategic Action: High H1 baseline dip; audit stock availability &amp; rep calls.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2026-10-15T14:04:33Z</dcterms:created>
  <dcterms:modified xsi:type="dcterms:W3CDTF">2026-10-15T14:04:33Z</dcterms:modified>
</cp:coreProperties>
</file>